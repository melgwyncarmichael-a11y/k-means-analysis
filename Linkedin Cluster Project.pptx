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60" r:id="rId3"/>
    <p:sldId id="258" r:id="rId4"/>
    <p:sldId id="261" r:id="rId5"/>
    <p:sldId id="268" r:id="rId6"/>
    <p:sldId id="259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6070"/>
  </p:normalViewPr>
  <p:slideViewPr>
    <p:cSldViewPr snapToGrid="0" snapToObjects="1" showGuides="1">
      <p:cViewPr varScale="1">
        <p:scale>
          <a:sx n="115" d="100"/>
          <a:sy n="115" d="100"/>
        </p:scale>
        <p:origin x="37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86E01B-AAAF-D446-BAAD-D0F7E9917518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39CA1B-6F09-AA43-94A7-F125668F6D93}">
      <dgm:prSet phldrT="[Text]"/>
      <dgm:spPr/>
      <dgm:t>
        <a:bodyPr/>
        <a:lstStyle/>
        <a:p>
          <a:r>
            <a:rPr lang="en-ID" b="1" i="0" u="none" strike="noStrike" dirty="0">
              <a:effectLst/>
            </a:rPr>
            <a:t>Objective</a:t>
          </a:r>
          <a:endParaRPr lang="en-US" dirty="0"/>
        </a:p>
      </dgm:t>
    </dgm:pt>
    <dgm:pt modelId="{495DB0AC-BCDC-E443-89F6-D9F601662B47}" type="parTrans" cxnId="{CE2960C6-F702-5143-B3BD-96C5CA881A6C}">
      <dgm:prSet/>
      <dgm:spPr/>
      <dgm:t>
        <a:bodyPr/>
        <a:lstStyle/>
        <a:p>
          <a:endParaRPr lang="en-US"/>
        </a:p>
      </dgm:t>
    </dgm:pt>
    <dgm:pt modelId="{4F6B09A3-E7B7-B347-BCD1-BF66C30248C3}" type="sibTrans" cxnId="{CE2960C6-F702-5143-B3BD-96C5CA881A6C}">
      <dgm:prSet/>
      <dgm:spPr/>
      <dgm:t>
        <a:bodyPr/>
        <a:lstStyle/>
        <a:p>
          <a:endParaRPr lang="en-US"/>
        </a:p>
      </dgm:t>
    </dgm:pt>
    <dgm:pt modelId="{DF684FE0-5C26-BB4E-AE6D-BF92C0FFADAF}">
      <dgm:prSet phldrT="[Text]"/>
      <dgm:spPr/>
      <dgm:t>
        <a:bodyPr/>
        <a:lstStyle/>
        <a:p>
          <a:pPr>
            <a:buFont typeface="Wingdings" pitchFamily="2" charset="2"/>
            <a:buChar char="§"/>
          </a:pPr>
          <a:r>
            <a:rPr lang="en-ID" b="0" i="0" u="none" strike="noStrike" dirty="0">
              <a:effectLst/>
            </a:rPr>
            <a:t>To segment customers based on demographic and behavioural patterns in order to develop tailored marketing strategies that enhance engagement and product uptake.</a:t>
          </a:r>
          <a:endParaRPr lang="en-US" dirty="0"/>
        </a:p>
      </dgm:t>
    </dgm:pt>
    <dgm:pt modelId="{214180D4-5961-8A48-AC17-BC5C9D7B67BD}" type="parTrans" cxnId="{55EF2F39-774F-B646-9A41-C5A41CA0BC8B}">
      <dgm:prSet/>
      <dgm:spPr/>
      <dgm:t>
        <a:bodyPr/>
        <a:lstStyle/>
        <a:p>
          <a:endParaRPr lang="en-US"/>
        </a:p>
      </dgm:t>
    </dgm:pt>
    <dgm:pt modelId="{66B74CFE-9FA6-D046-9293-877D15E629F9}" type="sibTrans" cxnId="{55EF2F39-774F-B646-9A41-C5A41CA0BC8B}">
      <dgm:prSet/>
      <dgm:spPr/>
      <dgm:t>
        <a:bodyPr/>
        <a:lstStyle/>
        <a:p>
          <a:endParaRPr lang="en-US"/>
        </a:p>
      </dgm:t>
    </dgm:pt>
    <dgm:pt modelId="{4BC5142B-06F7-024A-825A-5124703482D9}">
      <dgm:prSet phldrT="[Text]"/>
      <dgm:spPr/>
      <dgm:t>
        <a:bodyPr/>
        <a:lstStyle/>
        <a:p>
          <a:pPr>
            <a:buFont typeface="Wingdings" pitchFamily="2" charset="2"/>
            <a:buChar char="§"/>
          </a:pPr>
          <a:r>
            <a:rPr lang="en-ID" b="0" i="0" u="none" strike="noStrike" dirty="0">
              <a:effectLst/>
            </a:rPr>
            <a:t>Demographic &amp; Behavioural (Age, Job, Education, Loan Status)</a:t>
          </a:r>
          <a:endParaRPr lang="en-US" dirty="0"/>
        </a:p>
      </dgm:t>
    </dgm:pt>
    <dgm:pt modelId="{4DBFCFEB-6F7C-364C-82BC-1904313E5236}" type="parTrans" cxnId="{17565629-9D31-5F4A-8DA4-7DEBC541B1F9}">
      <dgm:prSet/>
      <dgm:spPr/>
      <dgm:t>
        <a:bodyPr/>
        <a:lstStyle/>
        <a:p>
          <a:endParaRPr lang="en-US"/>
        </a:p>
      </dgm:t>
    </dgm:pt>
    <dgm:pt modelId="{44B77AFC-EBBD-B044-8D53-C96CC020F3A8}" type="sibTrans" cxnId="{17565629-9D31-5F4A-8DA4-7DEBC541B1F9}">
      <dgm:prSet/>
      <dgm:spPr/>
      <dgm:t>
        <a:bodyPr/>
        <a:lstStyle/>
        <a:p>
          <a:endParaRPr lang="en-US"/>
        </a:p>
      </dgm:t>
    </dgm:pt>
    <dgm:pt modelId="{EF1AB156-4049-B245-B008-C44B4603A81B}">
      <dgm:prSet phldrT="[Text]"/>
      <dgm:spPr/>
      <dgm:t>
        <a:bodyPr/>
        <a:lstStyle/>
        <a:p>
          <a:pPr>
            <a:buFont typeface="Wingdings" pitchFamily="2" charset="2"/>
            <a:buChar char="§"/>
          </a:pPr>
          <a:r>
            <a:rPr lang="en-ID" b="0" i="0" u="none" strike="noStrike" dirty="0">
              <a:effectLst/>
            </a:rPr>
            <a:t>Bank Marketing Dataset (UCI Repository) in Kaggle</a:t>
          </a:r>
          <a:endParaRPr lang="en-US" dirty="0"/>
        </a:p>
      </dgm:t>
    </dgm:pt>
    <dgm:pt modelId="{486CAA29-5637-544F-B4CE-022B4943526A}" type="parTrans" cxnId="{0A35856D-DB66-484B-B144-A909E111B434}">
      <dgm:prSet/>
      <dgm:spPr/>
      <dgm:t>
        <a:bodyPr/>
        <a:lstStyle/>
        <a:p>
          <a:endParaRPr lang="en-US"/>
        </a:p>
      </dgm:t>
    </dgm:pt>
    <dgm:pt modelId="{6C53DFAD-8B16-2543-A569-7FF8B42CC685}" type="sibTrans" cxnId="{0A35856D-DB66-484B-B144-A909E111B434}">
      <dgm:prSet/>
      <dgm:spPr/>
      <dgm:t>
        <a:bodyPr/>
        <a:lstStyle/>
        <a:p>
          <a:endParaRPr lang="en-US"/>
        </a:p>
      </dgm:t>
    </dgm:pt>
    <dgm:pt modelId="{24FBB905-EF4F-A94C-8A3C-047F05FC580D}">
      <dgm:prSet phldrT="[Text]"/>
      <dgm:spPr/>
      <dgm:t>
        <a:bodyPr/>
        <a:lstStyle/>
        <a:p>
          <a:r>
            <a:rPr lang="en-ID" b="1" i="0" u="none" strike="noStrike" dirty="0">
              <a:effectLst/>
            </a:rPr>
            <a:t>Dataset Used</a:t>
          </a:r>
          <a:endParaRPr lang="en-US" dirty="0"/>
        </a:p>
      </dgm:t>
    </dgm:pt>
    <dgm:pt modelId="{CED7300F-7DCC-FD40-8161-6F2A962D5A35}" type="parTrans" cxnId="{EA0C4FCC-7633-6349-B873-88D25D8F46EC}">
      <dgm:prSet/>
      <dgm:spPr/>
      <dgm:t>
        <a:bodyPr/>
        <a:lstStyle/>
        <a:p>
          <a:endParaRPr lang="en-US"/>
        </a:p>
      </dgm:t>
    </dgm:pt>
    <dgm:pt modelId="{781952C0-7D30-1944-98D0-C9E1A61D8B88}" type="sibTrans" cxnId="{EA0C4FCC-7633-6349-B873-88D25D8F46EC}">
      <dgm:prSet/>
      <dgm:spPr/>
      <dgm:t>
        <a:bodyPr/>
        <a:lstStyle/>
        <a:p>
          <a:endParaRPr lang="en-US"/>
        </a:p>
      </dgm:t>
    </dgm:pt>
    <dgm:pt modelId="{45691750-FBB2-8042-833B-461ECE902BDB}">
      <dgm:prSet phldrT="[Text]"/>
      <dgm:spPr/>
      <dgm:t>
        <a:bodyPr/>
        <a:lstStyle/>
        <a:p>
          <a:r>
            <a:rPr lang="en-ID" b="1" i="0" u="none" strike="noStrike" dirty="0">
              <a:effectLst/>
            </a:rPr>
            <a:t>Segmentation Type</a:t>
          </a:r>
          <a:endParaRPr lang="en-US" dirty="0"/>
        </a:p>
      </dgm:t>
    </dgm:pt>
    <dgm:pt modelId="{F7CD2E87-2E16-C04A-8500-141D2B13EDB9}" type="parTrans" cxnId="{21244B58-16C1-B644-B9D5-E92CAB028CA9}">
      <dgm:prSet/>
      <dgm:spPr/>
      <dgm:t>
        <a:bodyPr/>
        <a:lstStyle/>
        <a:p>
          <a:endParaRPr lang="en-US"/>
        </a:p>
      </dgm:t>
    </dgm:pt>
    <dgm:pt modelId="{A0885D5D-164A-6D42-8C06-4C8F40B56716}" type="sibTrans" cxnId="{21244B58-16C1-B644-B9D5-E92CAB028CA9}">
      <dgm:prSet/>
      <dgm:spPr/>
      <dgm:t>
        <a:bodyPr/>
        <a:lstStyle/>
        <a:p>
          <a:endParaRPr lang="en-US"/>
        </a:p>
      </dgm:t>
    </dgm:pt>
    <dgm:pt modelId="{C9CA7E6A-5622-364D-881A-870E5EA05382}" type="pres">
      <dgm:prSet presAssocID="{B086E01B-AAAF-D446-BAAD-D0F7E9917518}" presName="linear" presStyleCnt="0">
        <dgm:presLayoutVars>
          <dgm:animLvl val="lvl"/>
          <dgm:resizeHandles val="exact"/>
        </dgm:presLayoutVars>
      </dgm:prSet>
      <dgm:spPr/>
    </dgm:pt>
    <dgm:pt modelId="{59F49284-DA66-3F42-B661-F7BED9034150}" type="pres">
      <dgm:prSet presAssocID="{4F39CA1B-6F09-AA43-94A7-F125668F6D9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897AAB-2F06-6B4A-9AE3-38DCD7022886}" type="pres">
      <dgm:prSet presAssocID="{4F39CA1B-6F09-AA43-94A7-F125668F6D93}" presName="childText" presStyleLbl="revTx" presStyleIdx="0" presStyleCnt="3">
        <dgm:presLayoutVars>
          <dgm:bulletEnabled val="1"/>
        </dgm:presLayoutVars>
      </dgm:prSet>
      <dgm:spPr/>
    </dgm:pt>
    <dgm:pt modelId="{5825345E-3173-9D48-8A22-4A1A4FCB5B8C}" type="pres">
      <dgm:prSet presAssocID="{24FBB905-EF4F-A94C-8A3C-047F05FC580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1E097E8-8854-C543-A02C-336C2D6750F0}" type="pres">
      <dgm:prSet presAssocID="{24FBB905-EF4F-A94C-8A3C-047F05FC580D}" presName="childText" presStyleLbl="revTx" presStyleIdx="1" presStyleCnt="3">
        <dgm:presLayoutVars>
          <dgm:bulletEnabled val="1"/>
        </dgm:presLayoutVars>
      </dgm:prSet>
      <dgm:spPr/>
    </dgm:pt>
    <dgm:pt modelId="{01CC04A9-E53A-934F-979D-34C84CA0763D}" type="pres">
      <dgm:prSet presAssocID="{45691750-FBB2-8042-833B-461ECE902BD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0918803-3788-A140-A3C2-230212BA9B54}" type="pres">
      <dgm:prSet presAssocID="{45691750-FBB2-8042-833B-461ECE902BD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7565629-9D31-5F4A-8DA4-7DEBC541B1F9}" srcId="{45691750-FBB2-8042-833B-461ECE902BDB}" destId="{4BC5142B-06F7-024A-825A-5124703482D9}" srcOrd="0" destOrd="0" parTransId="{4DBFCFEB-6F7C-364C-82BC-1904313E5236}" sibTransId="{44B77AFC-EBBD-B044-8D53-C96CC020F3A8}"/>
    <dgm:cxn modelId="{55EF2F39-774F-B646-9A41-C5A41CA0BC8B}" srcId="{4F39CA1B-6F09-AA43-94A7-F125668F6D93}" destId="{DF684FE0-5C26-BB4E-AE6D-BF92C0FFADAF}" srcOrd="0" destOrd="0" parTransId="{214180D4-5961-8A48-AC17-BC5C9D7B67BD}" sibTransId="{66B74CFE-9FA6-D046-9293-877D15E629F9}"/>
    <dgm:cxn modelId="{21244B58-16C1-B644-B9D5-E92CAB028CA9}" srcId="{B086E01B-AAAF-D446-BAAD-D0F7E9917518}" destId="{45691750-FBB2-8042-833B-461ECE902BDB}" srcOrd="2" destOrd="0" parTransId="{F7CD2E87-2E16-C04A-8500-141D2B13EDB9}" sibTransId="{A0885D5D-164A-6D42-8C06-4C8F40B56716}"/>
    <dgm:cxn modelId="{E66D0E61-F4D9-1A4C-8DAE-4C5B084473B7}" type="presOf" srcId="{B086E01B-AAAF-D446-BAAD-D0F7E9917518}" destId="{C9CA7E6A-5622-364D-881A-870E5EA05382}" srcOrd="0" destOrd="0" presId="urn:microsoft.com/office/officeart/2005/8/layout/vList2"/>
    <dgm:cxn modelId="{0A35856D-DB66-484B-B144-A909E111B434}" srcId="{24FBB905-EF4F-A94C-8A3C-047F05FC580D}" destId="{EF1AB156-4049-B245-B008-C44B4603A81B}" srcOrd="0" destOrd="0" parTransId="{486CAA29-5637-544F-B4CE-022B4943526A}" sibTransId="{6C53DFAD-8B16-2543-A569-7FF8B42CC685}"/>
    <dgm:cxn modelId="{57EC1397-ECFD-AE47-A092-CFE3EEC1649A}" type="presOf" srcId="{EF1AB156-4049-B245-B008-C44B4603A81B}" destId="{41E097E8-8854-C543-A02C-336C2D6750F0}" srcOrd="0" destOrd="0" presId="urn:microsoft.com/office/officeart/2005/8/layout/vList2"/>
    <dgm:cxn modelId="{CE2960C6-F702-5143-B3BD-96C5CA881A6C}" srcId="{B086E01B-AAAF-D446-BAAD-D0F7E9917518}" destId="{4F39CA1B-6F09-AA43-94A7-F125668F6D93}" srcOrd="0" destOrd="0" parTransId="{495DB0AC-BCDC-E443-89F6-D9F601662B47}" sibTransId="{4F6B09A3-E7B7-B347-BCD1-BF66C30248C3}"/>
    <dgm:cxn modelId="{EEBD7BCB-8A73-BC4D-AB73-0AC9ED1C74C8}" type="presOf" srcId="{DF684FE0-5C26-BB4E-AE6D-BF92C0FFADAF}" destId="{DD897AAB-2F06-6B4A-9AE3-38DCD7022886}" srcOrd="0" destOrd="0" presId="urn:microsoft.com/office/officeart/2005/8/layout/vList2"/>
    <dgm:cxn modelId="{EA0C4FCC-7633-6349-B873-88D25D8F46EC}" srcId="{B086E01B-AAAF-D446-BAAD-D0F7E9917518}" destId="{24FBB905-EF4F-A94C-8A3C-047F05FC580D}" srcOrd="1" destOrd="0" parTransId="{CED7300F-7DCC-FD40-8161-6F2A962D5A35}" sibTransId="{781952C0-7D30-1944-98D0-C9E1A61D8B88}"/>
    <dgm:cxn modelId="{0A8422D5-AA3C-664E-AD69-C07685CFB61D}" type="presOf" srcId="{24FBB905-EF4F-A94C-8A3C-047F05FC580D}" destId="{5825345E-3173-9D48-8A22-4A1A4FCB5B8C}" srcOrd="0" destOrd="0" presId="urn:microsoft.com/office/officeart/2005/8/layout/vList2"/>
    <dgm:cxn modelId="{31F171D5-3BE0-5F47-8D40-33335962A905}" type="presOf" srcId="{45691750-FBB2-8042-833B-461ECE902BDB}" destId="{01CC04A9-E53A-934F-979D-34C84CA0763D}" srcOrd="0" destOrd="0" presId="urn:microsoft.com/office/officeart/2005/8/layout/vList2"/>
    <dgm:cxn modelId="{9DDAA0E2-D17B-FF41-B901-9CAF50550FEE}" type="presOf" srcId="{4F39CA1B-6F09-AA43-94A7-F125668F6D93}" destId="{59F49284-DA66-3F42-B661-F7BED9034150}" srcOrd="0" destOrd="0" presId="urn:microsoft.com/office/officeart/2005/8/layout/vList2"/>
    <dgm:cxn modelId="{5DA308F3-741B-AF47-B5BB-72BD4E390176}" type="presOf" srcId="{4BC5142B-06F7-024A-825A-5124703482D9}" destId="{A0918803-3788-A140-A3C2-230212BA9B54}" srcOrd="0" destOrd="0" presId="urn:microsoft.com/office/officeart/2005/8/layout/vList2"/>
    <dgm:cxn modelId="{6B0BB3A9-9306-E642-89F6-B18478233AF7}" type="presParOf" srcId="{C9CA7E6A-5622-364D-881A-870E5EA05382}" destId="{59F49284-DA66-3F42-B661-F7BED9034150}" srcOrd="0" destOrd="0" presId="urn:microsoft.com/office/officeart/2005/8/layout/vList2"/>
    <dgm:cxn modelId="{518635CE-B1FD-4342-A688-3D1FE549177C}" type="presParOf" srcId="{C9CA7E6A-5622-364D-881A-870E5EA05382}" destId="{DD897AAB-2F06-6B4A-9AE3-38DCD7022886}" srcOrd="1" destOrd="0" presId="urn:microsoft.com/office/officeart/2005/8/layout/vList2"/>
    <dgm:cxn modelId="{B5E70BF3-8A2F-C84C-A71F-D37EFD0F3E1B}" type="presParOf" srcId="{C9CA7E6A-5622-364D-881A-870E5EA05382}" destId="{5825345E-3173-9D48-8A22-4A1A4FCB5B8C}" srcOrd="2" destOrd="0" presId="urn:microsoft.com/office/officeart/2005/8/layout/vList2"/>
    <dgm:cxn modelId="{93169A0A-20C9-914E-8A3B-8376C67E9238}" type="presParOf" srcId="{C9CA7E6A-5622-364D-881A-870E5EA05382}" destId="{41E097E8-8854-C543-A02C-336C2D6750F0}" srcOrd="3" destOrd="0" presId="urn:microsoft.com/office/officeart/2005/8/layout/vList2"/>
    <dgm:cxn modelId="{3629CB80-7417-624B-B3AA-FE85BAA67A6D}" type="presParOf" srcId="{C9CA7E6A-5622-364D-881A-870E5EA05382}" destId="{01CC04A9-E53A-934F-979D-34C84CA0763D}" srcOrd="4" destOrd="0" presId="urn:microsoft.com/office/officeart/2005/8/layout/vList2"/>
    <dgm:cxn modelId="{7EA12848-BEE3-5645-A076-402BE9D20E7F}" type="presParOf" srcId="{C9CA7E6A-5622-364D-881A-870E5EA05382}" destId="{A0918803-3788-A140-A3C2-230212BA9B5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E4780C-8446-3B41-A7C5-A49A429C257C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E8287B5-6D53-B34F-8B3E-DCB9A732A6EB}">
      <dgm:prSet/>
      <dgm:spPr/>
      <dgm:t>
        <a:bodyPr/>
        <a:lstStyle/>
        <a:p>
          <a:r>
            <a:rPr lang="en-ID" b="1" i="0" dirty="0"/>
            <a:t>1. Data Pre-processing: </a:t>
          </a:r>
          <a:r>
            <a:rPr lang="en-ID" b="0" i="0" dirty="0"/>
            <a:t>Cleaned nulls, encoded categorical features &amp; Removed outliers in age and income</a:t>
          </a:r>
          <a:endParaRPr lang="en-ID" dirty="0"/>
        </a:p>
      </dgm:t>
    </dgm:pt>
    <dgm:pt modelId="{E20E806D-1A9C-C647-ADC0-F21CEE0868BC}" type="parTrans" cxnId="{64E66C69-2133-924F-9A3D-6EEA16B28D88}">
      <dgm:prSet/>
      <dgm:spPr/>
      <dgm:t>
        <a:bodyPr/>
        <a:lstStyle/>
        <a:p>
          <a:endParaRPr lang="en-US"/>
        </a:p>
      </dgm:t>
    </dgm:pt>
    <dgm:pt modelId="{133AEE73-E45C-C743-9476-20AF4B867F6E}" type="sibTrans" cxnId="{64E66C69-2133-924F-9A3D-6EEA16B28D88}">
      <dgm:prSet/>
      <dgm:spPr/>
      <dgm:t>
        <a:bodyPr/>
        <a:lstStyle/>
        <a:p>
          <a:endParaRPr lang="en-US"/>
        </a:p>
      </dgm:t>
    </dgm:pt>
    <dgm:pt modelId="{5F4461BA-BA91-9F49-9ACA-AF3862188D8B}">
      <dgm:prSet/>
      <dgm:spPr/>
      <dgm:t>
        <a:bodyPr/>
        <a:lstStyle/>
        <a:p>
          <a:r>
            <a:rPr lang="en-ID" b="1" i="0" dirty="0"/>
            <a:t>2. Clustering: </a:t>
          </a:r>
          <a:r>
            <a:rPr lang="en-ID" b="0" i="0" dirty="0"/>
            <a:t>Applied K-Means clustering &amp; Selected </a:t>
          </a:r>
          <a:r>
            <a:rPr lang="en-ID" b="1" i="0" dirty="0"/>
            <a:t>K=5</a:t>
          </a:r>
          <a:r>
            <a:rPr lang="en-ID" b="0" i="0" dirty="0"/>
            <a:t> based on Elbow Method</a:t>
          </a:r>
          <a:endParaRPr lang="en-ID" dirty="0"/>
        </a:p>
      </dgm:t>
    </dgm:pt>
    <dgm:pt modelId="{CA5442F3-C083-9F4A-A9F2-797DAEDD78BB}" type="parTrans" cxnId="{F4491837-03B7-534A-A501-8448AB8E16F2}">
      <dgm:prSet/>
      <dgm:spPr/>
      <dgm:t>
        <a:bodyPr/>
        <a:lstStyle/>
        <a:p>
          <a:endParaRPr lang="en-US"/>
        </a:p>
      </dgm:t>
    </dgm:pt>
    <dgm:pt modelId="{F1E12A64-31EE-4F4D-B924-A6F276A9F583}" type="sibTrans" cxnId="{F4491837-03B7-534A-A501-8448AB8E16F2}">
      <dgm:prSet/>
      <dgm:spPr/>
      <dgm:t>
        <a:bodyPr/>
        <a:lstStyle/>
        <a:p>
          <a:endParaRPr lang="en-US"/>
        </a:p>
      </dgm:t>
    </dgm:pt>
    <dgm:pt modelId="{81DD8B8C-18D0-AC41-AEDD-1A7BB4020281}">
      <dgm:prSet/>
      <dgm:spPr/>
      <dgm:t>
        <a:bodyPr/>
        <a:lstStyle/>
        <a:p>
          <a:r>
            <a:rPr lang="en-ID" b="1" i="0" dirty="0"/>
            <a:t>3. Persona Development: </a:t>
          </a:r>
          <a:r>
            <a:rPr lang="en-ID" b="0" i="0" dirty="0"/>
            <a:t>Created customer profiles based on cluster characteristics &amp; Designed strategic marketing recommendations</a:t>
          </a:r>
          <a:endParaRPr lang="en-ID" dirty="0"/>
        </a:p>
      </dgm:t>
    </dgm:pt>
    <dgm:pt modelId="{CAD94A7E-7FC7-784B-B047-B6C50027AC22}" type="parTrans" cxnId="{A26A7A77-BAEE-EB4C-8CE5-EBD867BCE5A2}">
      <dgm:prSet/>
      <dgm:spPr/>
      <dgm:t>
        <a:bodyPr/>
        <a:lstStyle/>
        <a:p>
          <a:endParaRPr lang="en-US"/>
        </a:p>
      </dgm:t>
    </dgm:pt>
    <dgm:pt modelId="{4553EBF0-754A-9F48-AFCC-2725BABB7F4F}" type="sibTrans" cxnId="{A26A7A77-BAEE-EB4C-8CE5-EBD867BCE5A2}">
      <dgm:prSet/>
      <dgm:spPr/>
      <dgm:t>
        <a:bodyPr/>
        <a:lstStyle/>
        <a:p>
          <a:endParaRPr lang="en-US"/>
        </a:p>
      </dgm:t>
    </dgm:pt>
    <dgm:pt modelId="{CF20BFF1-2EFA-D145-8D5F-7773E24D490E}" type="pres">
      <dgm:prSet presAssocID="{D8E4780C-8446-3B41-A7C5-A49A429C257C}" presName="Name0" presStyleCnt="0">
        <dgm:presLayoutVars>
          <dgm:dir/>
          <dgm:animLvl val="lvl"/>
          <dgm:resizeHandles val="exact"/>
        </dgm:presLayoutVars>
      </dgm:prSet>
      <dgm:spPr/>
    </dgm:pt>
    <dgm:pt modelId="{C9EA2E6E-4767-4948-AEC1-9611611B9E56}" type="pres">
      <dgm:prSet presAssocID="{81DD8B8C-18D0-AC41-AEDD-1A7BB4020281}" presName="boxAndChildren" presStyleCnt="0"/>
      <dgm:spPr/>
    </dgm:pt>
    <dgm:pt modelId="{BA583712-C474-674C-8C9C-AD0521BAF8FC}" type="pres">
      <dgm:prSet presAssocID="{81DD8B8C-18D0-AC41-AEDD-1A7BB4020281}" presName="parentTextBox" presStyleLbl="node1" presStyleIdx="0" presStyleCnt="3"/>
      <dgm:spPr/>
    </dgm:pt>
    <dgm:pt modelId="{5F00FE96-2881-D24C-8938-A2CB3D55A322}" type="pres">
      <dgm:prSet presAssocID="{F1E12A64-31EE-4F4D-B924-A6F276A9F583}" presName="sp" presStyleCnt="0"/>
      <dgm:spPr/>
    </dgm:pt>
    <dgm:pt modelId="{CCB3836A-3469-774C-A38C-8B78BE7A317D}" type="pres">
      <dgm:prSet presAssocID="{5F4461BA-BA91-9F49-9ACA-AF3862188D8B}" presName="arrowAndChildren" presStyleCnt="0"/>
      <dgm:spPr/>
    </dgm:pt>
    <dgm:pt modelId="{A26A9763-C0BC-464F-884F-77CE8F30D400}" type="pres">
      <dgm:prSet presAssocID="{5F4461BA-BA91-9F49-9ACA-AF3862188D8B}" presName="parentTextArrow" presStyleLbl="node1" presStyleIdx="1" presStyleCnt="3"/>
      <dgm:spPr/>
    </dgm:pt>
    <dgm:pt modelId="{AD2EADC7-4877-FC46-B54C-5F2A41126CCA}" type="pres">
      <dgm:prSet presAssocID="{133AEE73-E45C-C743-9476-20AF4B867F6E}" presName="sp" presStyleCnt="0"/>
      <dgm:spPr/>
    </dgm:pt>
    <dgm:pt modelId="{36393798-2C1A-6D41-9242-F80F443D7E07}" type="pres">
      <dgm:prSet presAssocID="{DE8287B5-6D53-B34F-8B3E-DCB9A732A6EB}" presName="arrowAndChildren" presStyleCnt="0"/>
      <dgm:spPr/>
    </dgm:pt>
    <dgm:pt modelId="{D71B6FE6-E663-EA4D-A254-0CD8266F68ED}" type="pres">
      <dgm:prSet presAssocID="{DE8287B5-6D53-B34F-8B3E-DCB9A732A6EB}" presName="parentTextArrow" presStyleLbl="node1" presStyleIdx="2" presStyleCnt="3"/>
      <dgm:spPr/>
    </dgm:pt>
  </dgm:ptLst>
  <dgm:cxnLst>
    <dgm:cxn modelId="{5D59A92D-3559-1341-B41C-6D7CDB914C98}" type="presOf" srcId="{5F4461BA-BA91-9F49-9ACA-AF3862188D8B}" destId="{A26A9763-C0BC-464F-884F-77CE8F30D400}" srcOrd="0" destOrd="0" presId="urn:microsoft.com/office/officeart/2005/8/layout/process4"/>
    <dgm:cxn modelId="{F4491837-03B7-534A-A501-8448AB8E16F2}" srcId="{D8E4780C-8446-3B41-A7C5-A49A429C257C}" destId="{5F4461BA-BA91-9F49-9ACA-AF3862188D8B}" srcOrd="1" destOrd="0" parTransId="{CA5442F3-C083-9F4A-A9F2-797DAEDD78BB}" sibTransId="{F1E12A64-31EE-4F4D-B924-A6F276A9F583}"/>
    <dgm:cxn modelId="{FB63913B-DDDD-F145-94BE-26B46C62A9F1}" type="presOf" srcId="{81DD8B8C-18D0-AC41-AEDD-1A7BB4020281}" destId="{BA583712-C474-674C-8C9C-AD0521BAF8FC}" srcOrd="0" destOrd="0" presId="urn:microsoft.com/office/officeart/2005/8/layout/process4"/>
    <dgm:cxn modelId="{64E66C69-2133-924F-9A3D-6EEA16B28D88}" srcId="{D8E4780C-8446-3B41-A7C5-A49A429C257C}" destId="{DE8287B5-6D53-B34F-8B3E-DCB9A732A6EB}" srcOrd="0" destOrd="0" parTransId="{E20E806D-1A9C-C647-ADC0-F21CEE0868BC}" sibTransId="{133AEE73-E45C-C743-9476-20AF4B867F6E}"/>
    <dgm:cxn modelId="{A26A7A77-BAEE-EB4C-8CE5-EBD867BCE5A2}" srcId="{D8E4780C-8446-3B41-A7C5-A49A429C257C}" destId="{81DD8B8C-18D0-AC41-AEDD-1A7BB4020281}" srcOrd="2" destOrd="0" parTransId="{CAD94A7E-7FC7-784B-B047-B6C50027AC22}" sibTransId="{4553EBF0-754A-9F48-AFCC-2725BABB7F4F}"/>
    <dgm:cxn modelId="{581347A8-2F5E-8F40-9F5B-89FBAA622F8A}" type="presOf" srcId="{D8E4780C-8446-3B41-A7C5-A49A429C257C}" destId="{CF20BFF1-2EFA-D145-8D5F-7773E24D490E}" srcOrd="0" destOrd="0" presId="urn:microsoft.com/office/officeart/2005/8/layout/process4"/>
    <dgm:cxn modelId="{0ECBE0AE-8AA8-E743-9A3E-3F8DDD60A2F0}" type="presOf" srcId="{DE8287B5-6D53-B34F-8B3E-DCB9A732A6EB}" destId="{D71B6FE6-E663-EA4D-A254-0CD8266F68ED}" srcOrd="0" destOrd="0" presId="urn:microsoft.com/office/officeart/2005/8/layout/process4"/>
    <dgm:cxn modelId="{559B2D2A-7BA5-A141-AC40-AA937540038B}" type="presParOf" srcId="{CF20BFF1-2EFA-D145-8D5F-7773E24D490E}" destId="{C9EA2E6E-4767-4948-AEC1-9611611B9E56}" srcOrd="0" destOrd="0" presId="urn:microsoft.com/office/officeart/2005/8/layout/process4"/>
    <dgm:cxn modelId="{68C9DFC0-5F37-E84D-9DE9-9AE3E032831D}" type="presParOf" srcId="{C9EA2E6E-4767-4948-AEC1-9611611B9E56}" destId="{BA583712-C474-674C-8C9C-AD0521BAF8FC}" srcOrd="0" destOrd="0" presId="urn:microsoft.com/office/officeart/2005/8/layout/process4"/>
    <dgm:cxn modelId="{D7702227-51AC-7F4E-9CCF-216251E3EA64}" type="presParOf" srcId="{CF20BFF1-2EFA-D145-8D5F-7773E24D490E}" destId="{5F00FE96-2881-D24C-8938-A2CB3D55A322}" srcOrd="1" destOrd="0" presId="urn:microsoft.com/office/officeart/2005/8/layout/process4"/>
    <dgm:cxn modelId="{936DDBD9-22D0-9C4D-8739-26F8AA10EC7C}" type="presParOf" srcId="{CF20BFF1-2EFA-D145-8D5F-7773E24D490E}" destId="{CCB3836A-3469-774C-A38C-8B78BE7A317D}" srcOrd="2" destOrd="0" presId="urn:microsoft.com/office/officeart/2005/8/layout/process4"/>
    <dgm:cxn modelId="{0E194186-C0E6-0D47-954D-8220EDD24EF6}" type="presParOf" srcId="{CCB3836A-3469-774C-A38C-8B78BE7A317D}" destId="{A26A9763-C0BC-464F-884F-77CE8F30D400}" srcOrd="0" destOrd="0" presId="urn:microsoft.com/office/officeart/2005/8/layout/process4"/>
    <dgm:cxn modelId="{B8B770DD-B988-124F-92E0-AB8E06C79F76}" type="presParOf" srcId="{CF20BFF1-2EFA-D145-8D5F-7773E24D490E}" destId="{AD2EADC7-4877-FC46-B54C-5F2A41126CCA}" srcOrd="3" destOrd="0" presId="urn:microsoft.com/office/officeart/2005/8/layout/process4"/>
    <dgm:cxn modelId="{88FB49D5-9932-6F49-8343-C80AA4FE2D0A}" type="presParOf" srcId="{CF20BFF1-2EFA-D145-8D5F-7773E24D490E}" destId="{36393798-2C1A-6D41-9242-F80F443D7E07}" srcOrd="4" destOrd="0" presId="urn:microsoft.com/office/officeart/2005/8/layout/process4"/>
    <dgm:cxn modelId="{F5486CA7-C493-9046-B7AE-295EE434D3B8}" type="presParOf" srcId="{36393798-2C1A-6D41-9242-F80F443D7E07}" destId="{D71B6FE6-E663-EA4D-A254-0CD8266F68E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275E85-6AC3-F247-B4B7-6BB72DAF8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9692B2-29CE-5A47-991C-4436B6F3E770}">
      <dgm:prSet/>
      <dgm:spPr/>
      <dgm:t>
        <a:bodyPr/>
        <a:lstStyle/>
        <a:p>
          <a:r>
            <a:rPr lang="en-ID" b="1" i="0" dirty="0"/>
            <a:t>Profile:</a:t>
          </a:r>
          <a:r>
            <a:rPr lang="en-ID" b="0" i="0" dirty="0"/>
            <a:t> Aged 40+, educated, employed in administrative roles. Stable income and homeownership.</a:t>
          </a:r>
          <a:endParaRPr lang="en-ID" dirty="0"/>
        </a:p>
      </dgm:t>
    </dgm:pt>
    <dgm:pt modelId="{E3534A9A-87E1-BE4A-BC45-A6F1C894336C}" type="parTrans" cxnId="{90951EAA-F84B-6248-8E2B-637762951D93}">
      <dgm:prSet/>
      <dgm:spPr/>
      <dgm:t>
        <a:bodyPr/>
        <a:lstStyle/>
        <a:p>
          <a:endParaRPr lang="en-US"/>
        </a:p>
      </dgm:t>
    </dgm:pt>
    <dgm:pt modelId="{37D632BE-7A84-874C-96F6-F3808915EE37}" type="sibTrans" cxnId="{90951EAA-F84B-6248-8E2B-637762951D93}">
      <dgm:prSet/>
      <dgm:spPr/>
      <dgm:t>
        <a:bodyPr/>
        <a:lstStyle/>
        <a:p>
          <a:endParaRPr lang="en-US"/>
        </a:p>
      </dgm:t>
    </dgm:pt>
    <dgm:pt modelId="{83F389F5-A80E-4449-AD67-A9027567E095}">
      <dgm:prSet/>
      <dgm:spPr/>
      <dgm:t>
        <a:bodyPr/>
        <a:lstStyle/>
        <a:p>
          <a:r>
            <a:rPr lang="en-ID" b="1" i="0"/>
            <a:t>Strategy: </a:t>
          </a:r>
          <a:r>
            <a:rPr lang="en-ID" b="0" i="0"/>
            <a:t>Promote refinance and insurance bundles</a:t>
          </a:r>
          <a:endParaRPr lang="en-ID"/>
        </a:p>
      </dgm:t>
    </dgm:pt>
    <dgm:pt modelId="{365AF90B-BCF9-834A-B771-9F678E6507EE}" type="parTrans" cxnId="{D60A513D-59A8-3A45-AD33-ED5E73BA0677}">
      <dgm:prSet/>
      <dgm:spPr/>
      <dgm:t>
        <a:bodyPr/>
        <a:lstStyle/>
        <a:p>
          <a:endParaRPr lang="en-US"/>
        </a:p>
      </dgm:t>
    </dgm:pt>
    <dgm:pt modelId="{D00640E3-766C-4A4E-937C-C503ECF3EFF1}" type="sibTrans" cxnId="{D60A513D-59A8-3A45-AD33-ED5E73BA0677}">
      <dgm:prSet/>
      <dgm:spPr/>
      <dgm:t>
        <a:bodyPr/>
        <a:lstStyle/>
        <a:p>
          <a:endParaRPr lang="en-US"/>
        </a:p>
      </dgm:t>
    </dgm:pt>
    <dgm:pt modelId="{E2C1B003-002B-0849-9A5B-FF2F66025DD6}">
      <dgm:prSet/>
      <dgm:spPr/>
      <dgm:t>
        <a:bodyPr/>
        <a:lstStyle/>
        <a:p>
          <a:r>
            <a:rPr lang="en-ID" b="1" i="0"/>
            <a:t>Channels</a:t>
          </a:r>
          <a:r>
            <a:rPr lang="en-ID" b="0" i="0"/>
            <a:t>: Email, Mobile App</a:t>
          </a:r>
          <a:endParaRPr lang="en-ID"/>
        </a:p>
      </dgm:t>
    </dgm:pt>
    <dgm:pt modelId="{BCAC9891-6EA3-1644-8662-FC1D937AC030}" type="parTrans" cxnId="{785B1384-0736-4444-B418-159C0B176DD6}">
      <dgm:prSet/>
      <dgm:spPr/>
      <dgm:t>
        <a:bodyPr/>
        <a:lstStyle/>
        <a:p>
          <a:endParaRPr lang="en-US"/>
        </a:p>
      </dgm:t>
    </dgm:pt>
    <dgm:pt modelId="{6C455F6F-CA30-374C-AEAC-15E724A5E320}" type="sibTrans" cxnId="{785B1384-0736-4444-B418-159C0B176DD6}">
      <dgm:prSet/>
      <dgm:spPr/>
      <dgm:t>
        <a:bodyPr/>
        <a:lstStyle/>
        <a:p>
          <a:endParaRPr lang="en-US"/>
        </a:p>
      </dgm:t>
    </dgm:pt>
    <dgm:pt modelId="{316FCEAE-936D-A747-9C7F-5FDAC473D1E6}">
      <dgm:prSet/>
      <dgm:spPr/>
      <dgm:t>
        <a:bodyPr/>
        <a:lstStyle/>
        <a:p>
          <a:r>
            <a:rPr lang="en-ID" b="1" i="0" dirty="0"/>
            <a:t>Message</a:t>
          </a:r>
          <a:r>
            <a:rPr lang="en-ID" b="0" i="0" dirty="0"/>
            <a:t>: "Secure your future with flexible options”</a:t>
          </a:r>
          <a:endParaRPr lang="en-ID" dirty="0"/>
        </a:p>
      </dgm:t>
    </dgm:pt>
    <dgm:pt modelId="{E68A8C84-F437-C146-BDC0-050753C6148C}" type="parTrans" cxnId="{F1CAF9CE-C001-014B-8036-08B2D9191B3F}">
      <dgm:prSet/>
      <dgm:spPr/>
      <dgm:t>
        <a:bodyPr/>
        <a:lstStyle/>
        <a:p>
          <a:endParaRPr lang="en-US"/>
        </a:p>
      </dgm:t>
    </dgm:pt>
    <dgm:pt modelId="{A15983BF-26F5-2A41-AA9E-170584C79E9A}" type="sibTrans" cxnId="{F1CAF9CE-C001-014B-8036-08B2D9191B3F}">
      <dgm:prSet/>
      <dgm:spPr/>
      <dgm:t>
        <a:bodyPr/>
        <a:lstStyle/>
        <a:p>
          <a:endParaRPr lang="en-US"/>
        </a:p>
      </dgm:t>
    </dgm:pt>
    <dgm:pt modelId="{4C3B085A-22FD-D641-8973-1C3D53DD78FE}" type="pres">
      <dgm:prSet presAssocID="{CD275E85-6AC3-F247-B4B7-6BB72DAF8901}" presName="linear" presStyleCnt="0">
        <dgm:presLayoutVars>
          <dgm:animLvl val="lvl"/>
          <dgm:resizeHandles val="exact"/>
        </dgm:presLayoutVars>
      </dgm:prSet>
      <dgm:spPr/>
    </dgm:pt>
    <dgm:pt modelId="{CE36A430-31F1-A848-9669-01CD6D8B619F}" type="pres">
      <dgm:prSet presAssocID="{A79692B2-29CE-5A47-991C-4436B6F3E7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A5E7001-B450-2B41-96BB-F9B14A29DB4A}" type="pres">
      <dgm:prSet presAssocID="{37D632BE-7A84-874C-96F6-F3808915EE37}" presName="spacer" presStyleCnt="0"/>
      <dgm:spPr/>
    </dgm:pt>
    <dgm:pt modelId="{ACD41F83-7BB4-5842-A229-6CEB07CBD332}" type="pres">
      <dgm:prSet presAssocID="{83F389F5-A80E-4449-AD67-A9027567E095}" presName="parentText" presStyleLbl="node1" presStyleIdx="1" presStyleCnt="4" custLinFactNeighborX="-63654" custLinFactNeighborY="22776">
        <dgm:presLayoutVars>
          <dgm:chMax val="0"/>
          <dgm:bulletEnabled val="1"/>
        </dgm:presLayoutVars>
      </dgm:prSet>
      <dgm:spPr/>
    </dgm:pt>
    <dgm:pt modelId="{79D7ABF2-02B6-A145-9CDA-50AEACE8724C}" type="pres">
      <dgm:prSet presAssocID="{D00640E3-766C-4A4E-937C-C503ECF3EFF1}" presName="spacer" presStyleCnt="0"/>
      <dgm:spPr/>
    </dgm:pt>
    <dgm:pt modelId="{79F4EF3C-8802-324A-8A6D-AC1CBF87BD66}" type="pres">
      <dgm:prSet presAssocID="{E2C1B003-002B-0849-9A5B-FF2F66025DD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96C9FE3-A88A-DC4A-9BAD-5105FBD66E10}" type="pres">
      <dgm:prSet presAssocID="{6C455F6F-CA30-374C-AEAC-15E724A5E320}" presName="spacer" presStyleCnt="0"/>
      <dgm:spPr/>
    </dgm:pt>
    <dgm:pt modelId="{72605DCF-E9D3-A448-8658-EEE33A61217D}" type="pres">
      <dgm:prSet presAssocID="{316FCEAE-936D-A747-9C7F-5FDAC473D1E6}" presName="parentText" presStyleLbl="node1" presStyleIdx="3" presStyleCnt="4" custLinFactNeighborX="211">
        <dgm:presLayoutVars>
          <dgm:chMax val="0"/>
          <dgm:bulletEnabled val="1"/>
        </dgm:presLayoutVars>
      </dgm:prSet>
      <dgm:spPr/>
    </dgm:pt>
  </dgm:ptLst>
  <dgm:cxnLst>
    <dgm:cxn modelId="{33471705-FC0C-5049-AC88-4CE272889C65}" type="presOf" srcId="{A79692B2-29CE-5A47-991C-4436B6F3E770}" destId="{CE36A430-31F1-A848-9669-01CD6D8B619F}" srcOrd="0" destOrd="0" presId="urn:microsoft.com/office/officeart/2005/8/layout/vList2"/>
    <dgm:cxn modelId="{D60A513D-59A8-3A45-AD33-ED5E73BA0677}" srcId="{CD275E85-6AC3-F247-B4B7-6BB72DAF8901}" destId="{83F389F5-A80E-4449-AD67-A9027567E095}" srcOrd="1" destOrd="0" parTransId="{365AF90B-BCF9-834A-B771-9F678E6507EE}" sibTransId="{D00640E3-766C-4A4E-937C-C503ECF3EFF1}"/>
    <dgm:cxn modelId="{3F498846-A480-104B-AEEC-F02E7C60940B}" type="presOf" srcId="{316FCEAE-936D-A747-9C7F-5FDAC473D1E6}" destId="{72605DCF-E9D3-A448-8658-EEE33A61217D}" srcOrd="0" destOrd="0" presId="urn:microsoft.com/office/officeart/2005/8/layout/vList2"/>
    <dgm:cxn modelId="{85022974-1C00-4A4B-9E5B-4D38E5CF38D7}" type="presOf" srcId="{83F389F5-A80E-4449-AD67-A9027567E095}" destId="{ACD41F83-7BB4-5842-A229-6CEB07CBD332}" srcOrd="0" destOrd="0" presId="urn:microsoft.com/office/officeart/2005/8/layout/vList2"/>
    <dgm:cxn modelId="{785B1384-0736-4444-B418-159C0B176DD6}" srcId="{CD275E85-6AC3-F247-B4B7-6BB72DAF8901}" destId="{E2C1B003-002B-0849-9A5B-FF2F66025DD6}" srcOrd="2" destOrd="0" parTransId="{BCAC9891-6EA3-1644-8662-FC1D937AC030}" sibTransId="{6C455F6F-CA30-374C-AEAC-15E724A5E320}"/>
    <dgm:cxn modelId="{8078BD8C-96D5-7840-88E5-E335FE24F566}" type="presOf" srcId="{E2C1B003-002B-0849-9A5B-FF2F66025DD6}" destId="{79F4EF3C-8802-324A-8A6D-AC1CBF87BD66}" srcOrd="0" destOrd="0" presId="urn:microsoft.com/office/officeart/2005/8/layout/vList2"/>
    <dgm:cxn modelId="{7AC0E896-77A7-514B-9D16-8506347A4841}" type="presOf" srcId="{CD275E85-6AC3-F247-B4B7-6BB72DAF8901}" destId="{4C3B085A-22FD-D641-8973-1C3D53DD78FE}" srcOrd="0" destOrd="0" presId="urn:microsoft.com/office/officeart/2005/8/layout/vList2"/>
    <dgm:cxn modelId="{90951EAA-F84B-6248-8E2B-637762951D93}" srcId="{CD275E85-6AC3-F247-B4B7-6BB72DAF8901}" destId="{A79692B2-29CE-5A47-991C-4436B6F3E770}" srcOrd="0" destOrd="0" parTransId="{E3534A9A-87E1-BE4A-BC45-A6F1C894336C}" sibTransId="{37D632BE-7A84-874C-96F6-F3808915EE37}"/>
    <dgm:cxn modelId="{F1CAF9CE-C001-014B-8036-08B2D9191B3F}" srcId="{CD275E85-6AC3-F247-B4B7-6BB72DAF8901}" destId="{316FCEAE-936D-A747-9C7F-5FDAC473D1E6}" srcOrd="3" destOrd="0" parTransId="{E68A8C84-F437-C146-BDC0-050753C6148C}" sibTransId="{A15983BF-26F5-2A41-AA9E-170584C79E9A}"/>
    <dgm:cxn modelId="{EECD6AF7-4CCF-FE42-B9B0-7010DB6C07A8}" type="presParOf" srcId="{4C3B085A-22FD-D641-8973-1C3D53DD78FE}" destId="{CE36A430-31F1-A848-9669-01CD6D8B619F}" srcOrd="0" destOrd="0" presId="urn:microsoft.com/office/officeart/2005/8/layout/vList2"/>
    <dgm:cxn modelId="{970DD0D4-5DE3-FD44-8830-41D458626693}" type="presParOf" srcId="{4C3B085A-22FD-D641-8973-1C3D53DD78FE}" destId="{AA5E7001-B450-2B41-96BB-F9B14A29DB4A}" srcOrd="1" destOrd="0" presId="urn:microsoft.com/office/officeart/2005/8/layout/vList2"/>
    <dgm:cxn modelId="{3A612256-1AC5-6C4F-81B4-21C402CB7937}" type="presParOf" srcId="{4C3B085A-22FD-D641-8973-1C3D53DD78FE}" destId="{ACD41F83-7BB4-5842-A229-6CEB07CBD332}" srcOrd="2" destOrd="0" presId="urn:microsoft.com/office/officeart/2005/8/layout/vList2"/>
    <dgm:cxn modelId="{1759E504-CF40-B04B-B7CB-269F88E28B2C}" type="presParOf" srcId="{4C3B085A-22FD-D641-8973-1C3D53DD78FE}" destId="{79D7ABF2-02B6-A145-9CDA-50AEACE8724C}" srcOrd="3" destOrd="0" presId="urn:microsoft.com/office/officeart/2005/8/layout/vList2"/>
    <dgm:cxn modelId="{2F34C5B7-22CA-3243-8691-CFD782AC7A08}" type="presParOf" srcId="{4C3B085A-22FD-D641-8973-1C3D53DD78FE}" destId="{79F4EF3C-8802-324A-8A6D-AC1CBF87BD66}" srcOrd="4" destOrd="0" presId="urn:microsoft.com/office/officeart/2005/8/layout/vList2"/>
    <dgm:cxn modelId="{2A6F4D09-9CAC-7847-B945-F0EE8BF612D2}" type="presParOf" srcId="{4C3B085A-22FD-D641-8973-1C3D53DD78FE}" destId="{696C9FE3-A88A-DC4A-9BAD-5105FBD66E10}" srcOrd="5" destOrd="0" presId="urn:microsoft.com/office/officeart/2005/8/layout/vList2"/>
    <dgm:cxn modelId="{AFAD963D-4102-6E46-933F-C26F9BBEAE63}" type="presParOf" srcId="{4C3B085A-22FD-D641-8973-1C3D53DD78FE}" destId="{72605DCF-E9D3-A448-8658-EEE33A6121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C67AFD-DC18-E045-9FEB-A71DD1B800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067700-E91E-E441-8C1B-910C7B5682E6}">
      <dgm:prSet/>
      <dgm:spPr/>
      <dgm:t>
        <a:bodyPr/>
        <a:lstStyle/>
        <a:p>
          <a:r>
            <a:rPr lang="en-ID" b="1" i="0" dirty="0"/>
            <a:t>Profile:</a:t>
          </a:r>
          <a:r>
            <a:rPr lang="en-ID" b="0" i="0" dirty="0"/>
            <a:t> Young, well-educated, early career, new financial responsibilities</a:t>
          </a:r>
          <a:endParaRPr lang="en-ID" dirty="0"/>
        </a:p>
      </dgm:t>
    </dgm:pt>
    <dgm:pt modelId="{1F6F2E97-3FDA-2743-89BB-3CD92414DDF9}" type="parTrans" cxnId="{1487170B-16D2-FF48-9093-244919DBFC01}">
      <dgm:prSet/>
      <dgm:spPr/>
      <dgm:t>
        <a:bodyPr/>
        <a:lstStyle/>
        <a:p>
          <a:endParaRPr lang="en-US"/>
        </a:p>
      </dgm:t>
    </dgm:pt>
    <dgm:pt modelId="{F035FE67-C770-0D47-8349-33FCED52C923}" type="sibTrans" cxnId="{1487170B-16D2-FF48-9093-244919DBFC01}">
      <dgm:prSet/>
      <dgm:spPr/>
      <dgm:t>
        <a:bodyPr/>
        <a:lstStyle/>
        <a:p>
          <a:endParaRPr lang="en-US"/>
        </a:p>
      </dgm:t>
    </dgm:pt>
    <dgm:pt modelId="{8CF67C53-2F09-834B-96B3-E95A7E2192B9}">
      <dgm:prSet/>
      <dgm:spPr/>
      <dgm:t>
        <a:bodyPr/>
        <a:lstStyle/>
        <a:p>
          <a:r>
            <a:rPr lang="en-ID" b="1" i="0" dirty="0"/>
            <a:t>Strategy: </a:t>
          </a:r>
          <a:r>
            <a:rPr lang="en-ID" b="0" i="0" dirty="0"/>
            <a:t>Offer first-time mortgages, credit cards with rewards</a:t>
          </a:r>
          <a:endParaRPr lang="en-ID" dirty="0"/>
        </a:p>
      </dgm:t>
    </dgm:pt>
    <dgm:pt modelId="{FD9A33C3-8890-E744-BEB1-4322EDFA2430}" type="parTrans" cxnId="{EC72C9D8-D90C-4C4B-AC6F-A0499B57295F}">
      <dgm:prSet/>
      <dgm:spPr/>
      <dgm:t>
        <a:bodyPr/>
        <a:lstStyle/>
        <a:p>
          <a:endParaRPr lang="en-US"/>
        </a:p>
      </dgm:t>
    </dgm:pt>
    <dgm:pt modelId="{3291B730-02CC-8E43-84C7-A1F8A1BCF9AA}" type="sibTrans" cxnId="{EC72C9D8-D90C-4C4B-AC6F-A0499B57295F}">
      <dgm:prSet/>
      <dgm:spPr/>
      <dgm:t>
        <a:bodyPr/>
        <a:lstStyle/>
        <a:p>
          <a:endParaRPr lang="en-US"/>
        </a:p>
      </dgm:t>
    </dgm:pt>
    <dgm:pt modelId="{2C979A77-5F44-6643-B288-9072969FDF4E}">
      <dgm:prSet/>
      <dgm:spPr/>
      <dgm:t>
        <a:bodyPr/>
        <a:lstStyle/>
        <a:p>
          <a:r>
            <a:rPr lang="en-ID" b="1" i="0" dirty="0"/>
            <a:t>Channels</a:t>
          </a:r>
          <a:r>
            <a:rPr lang="en-ID" b="0" i="0" dirty="0"/>
            <a:t>: Social Media, Mobile Banking</a:t>
          </a:r>
          <a:endParaRPr lang="en-ID" dirty="0"/>
        </a:p>
      </dgm:t>
    </dgm:pt>
    <dgm:pt modelId="{4E710072-8045-8D41-A73A-C76C7EF21003}" type="parTrans" cxnId="{B5E28CAF-0F65-9F4C-9318-08B504209B46}">
      <dgm:prSet/>
      <dgm:spPr/>
      <dgm:t>
        <a:bodyPr/>
        <a:lstStyle/>
        <a:p>
          <a:endParaRPr lang="en-US"/>
        </a:p>
      </dgm:t>
    </dgm:pt>
    <dgm:pt modelId="{45491FE4-1CAC-9044-A15C-6DF66F255D1C}" type="sibTrans" cxnId="{B5E28CAF-0F65-9F4C-9318-08B504209B46}">
      <dgm:prSet/>
      <dgm:spPr/>
      <dgm:t>
        <a:bodyPr/>
        <a:lstStyle/>
        <a:p>
          <a:endParaRPr lang="en-US"/>
        </a:p>
      </dgm:t>
    </dgm:pt>
    <dgm:pt modelId="{79A55456-A77C-604B-9F5E-E24286B646DF}">
      <dgm:prSet/>
      <dgm:spPr/>
      <dgm:t>
        <a:bodyPr/>
        <a:lstStyle/>
        <a:p>
          <a:r>
            <a:rPr lang="en-ID" b="1" i="0" dirty="0"/>
            <a:t>Message</a:t>
          </a:r>
          <a:r>
            <a:rPr lang="en-ID" b="0" i="0" dirty="0"/>
            <a:t>: "Smart financial tools for your growing goals"</a:t>
          </a:r>
          <a:endParaRPr lang="en-ID" dirty="0"/>
        </a:p>
      </dgm:t>
    </dgm:pt>
    <dgm:pt modelId="{B8A6E906-6BDF-FB46-83C1-70B8DC01E590}" type="parTrans" cxnId="{9500333E-0962-CC4B-9029-2E28C4291757}">
      <dgm:prSet/>
      <dgm:spPr/>
      <dgm:t>
        <a:bodyPr/>
        <a:lstStyle/>
        <a:p>
          <a:endParaRPr lang="en-US"/>
        </a:p>
      </dgm:t>
    </dgm:pt>
    <dgm:pt modelId="{7E5017BD-9763-AB46-B9A2-C22A4B3401FB}" type="sibTrans" cxnId="{9500333E-0962-CC4B-9029-2E28C4291757}">
      <dgm:prSet/>
      <dgm:spPr/>
      <dgm:t>
        <a:bodyPr/>
        <a:lstStyle/>
        <a:p>
          <a:endParaRPr lang="en-US"/>
        </a:p>
      </dgm:t>
    </dgm:pt>
    <dgm:pt modelId="{648A1E48-3AEA-7A44-B53F-4AC10F76E53E}" type="pres">
      <dgm:prSet presAssocID="{98C67AFD-DC18-E045-9FEB-A71DD1B800F7}" presName="linear" presStyleCnt="0">
        <dgm:presLayoutVars>
          <dgm:animLvl val="lvl"/>
          <dgm:resizeHandles val="exact"/>
        </dgm:presLayoutVars>
      </dgm:prSet>
      <dgm:spPr/>
    </dgm:pt>
    <dgm:pt modelId="{69709E56-58D5-8A48-ACA2-5F3AD9907440}" type="pres">
      <dgm:prSet presAssocID="{F3067700-E91E-E441-8C1B-910C7B5682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B2F8BB1-4255-5647-A1D3-583DD15FFA3E}" type="pres">
      <dgm:prSet presAssocID="{F035FE67-C770-0D47-8349-33FCED52C923}" presName="spacer" presStyleCnt="0"/>
      <dgm:spPr/>
    </dgm:pt>
    <dgm:pt modelId="{9A8169B1-947C-5A4F-8104-BB62E5E6FD17}" type="pres">
      <dgm:prSet presAssocID="{8CF67C53-2F09-834B-96B3-E95A7E2192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E81E5B-CE76-084D-BA00-416D4F2B2F92}" type="pres">
      <dgm:prSet presAssocID="{3291B730-02CC-8E43-84C7-A1F8A1BCF9AA}" presName="spacer" presStyleCnt="0"/>
      <dgm:spPr/>
    </dgm:pt>
    <dgm:pt modelId="{F47581BA-3CE3-BA4E-8DA0-E473B5BA068D}" type="pres">
      <dgm:prSet presAssocID="{2C979A77-5F44-6643-B288-9072969FDF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4555B07-7871-9947-A65B-A858C1A6143B}" type="pres">
      <dgm:prSet presAssocID="{45491FE4-1CAC-9044-A15C-6DF66F255D1C}" presName="spacer" presStyleCnt="0"/>
      <dgm:spPr/>
    </dgm:pt>
    <dgm:pt modelId="{DE1D913E-54C6-0943-9BEC-17D6248ABF1A}" type="pres">
      <dgm:prSet presAssocID="{79A55456-A77C-604B-9F5E-E24286B646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468104-1F49-5840-8DB5-8B6E71C10F63}" type="presOf" srcId="{F3067700-E91E-E441-8C1B-910C7B5682E6}" destId="{69709E56-58D5-8A48-ACA2-5F3AD9907440}" srcOrd="0" destOrd="0" presId="urn:microsoft.com/office/officeart/2005/8/layout/vList2"/>
    <dgm:cxn modelId="{1487170B-16D2-FF48-9093-244919DBFC01}" srcId="{98C67AFD-DC18-E045-9FEB-A71DD1B800F7}" destId="{F3067700-E91E-E441-8C1B-910C7B5682E6}" srcOrd="0" destOrd="0" parTransId="{1F6F2E97-3FDA-2743-89BB-3CD92414DDF9}" sibTransId="{F035FE67-C770-0D47-8349-33FCED52C923}"/>
    <dgm:cxn modelId="{3A189E39-2DAC-D24B-B98A-F0A796E8BB53}" type="presOf" srcId="{79A55456-A77C-604B-9F5E-E24286B646DF}" destId="{DE1D913E-54C6-0943-9BEC-17D6248ABF1A}" srcOrd="0" destOrd="0" presId="urn:microsoft.com/office/officeart/2005/8/layout/vList2"/>
    <dgm:cxn modelId="{9500333E-0962-CC4B-9029-2E28C4291757}" srcId="{98C67AFD-DC18-E045-9FEB-A71DD1B800F7}" destId="{79A55456-A77C-604B-9F5E-E24286B646DF}" srcOrd="3" destOrd="0" parTransId="{B8A6E906-6BDF-FB46-83C1-70B8DC01E590}" sibTransId="{7E5017BD-9763-AB46-B9A2-C22A4B3401FB}"/>
    <dgm:cxn modelId="{3A465257-71DF-434A-A251-5DAC940D99DA}" type="presOf" srcId="{2C979A77-5F44-6643-B288-9072969FDF4E}" destId="{F47581BA-3CE3-BA4E-8DA0-E473B5BA068D}" srcOrd="0" destOrd="0" presId="urn:microsoft.com/office/officeart/2005/8/layout/vList2"/>
    <dgm:cxn modelId="{A80E7A85-447A-4846-BD10-48F94A0EABC6}" type="presOf" srcId="{8CF67C53-2F09-834B-96B3-E95A7E2192B9}" destId="{9A8169B1-947C-5A4F-8104-BB62E5E6FD17}" srcOrd="0" destOrd="0" presId="urn:microsoft.com/office/officeart/2005/8/layout/vList2"/>
    <dgm:cxn modelId="{B5E28CAF-0F65-9F4C-9318-08B504209B46}" srcId="{98C67AFD-DC18-E045-9FEB-A71DD1B800F7}" destId="{2C979A77-5F44-6643-B288-9072969FDF4E}" srcOrd="2" destOrd="0" parTransId="{4E710072-8045-8D41-A73A-C76C7EF21003}" sibTransId="{45491FE4-1CAC-9044-A15C-6DF66F255D1C}"/>
    <dgm:cxn modelId="{AEC8CBB1-8CEB-DF43-8D2B-B66FDC435B6E}" type="presOf" srcId="{98C67AFD-DC18-E045-9FEB-A71DD1B800F7}" destId="{648A1E48-3AEA-7A44-B53F-4AC10F76E53E}" srcOrd="0" destOrd="0" presId="urn:microsoft.com/office/officeart/2005/8/layout/vList2"/>
    <dgm:cxn modelId="{EC72C9D8-D90C-4C4B-AC6F-A0499B57295F}" srcId="{98C67AFD-DC18-E045-9FEB-A71DD1B800F7}" destId="{8CF67C53-2F09-834B-96B3-E95A7E2192B9}" srcOrd="1" destOrd="0" parTransId="{FD9A33C3-8890-E744-BEB1-4322EDFA2430}" sibTransId="{3291B730-02CC-8E43-84C7-A1F8A1BCF9AA}"/>
    <dgm:cxn modelId="{27B5ACF5-A466-B647-A076-537410CE9DB6}" type="presParOf" srcId="{648A1E48-3AEA-7A44-B53F-4AC10F76E53E}" destId="{69709E56-58D5-8A48-ACA2-5F3AD9907440}" srcOrd="0" destOrd="0" presId="urn:microsoft.com/office/officeart/2005/8/layout/vList2"/>
    <dgm:cxn modelId="{644E23FA-7E24-1C49-AF6E-F876AF4BF81B}" type="presParOf" srcId="{648A1E48-3AEA-7A44-B53F-4AC10F76E53E}" destId="{1B2F8BB1-4255-5647-A1D3-583DD15FFA3E}" srcOrd="1" destOrd="0" presId="urn:microsoft.com/office/officeart/2005/8/layout/vList2"/>
    <dgm:cxn modelId="{06263A99-C89C-9E43-90FD-66810BF6775B}" type="presParOf" srcId="{648A1E48-3AEA-7A44-B53F-4AC10F76E53E}" destId="{9A8169B1-947C-5A4F-8104-BB62E5E6FD17}" srcOrd="2" destOrd="0" presId="urn:microsoft.com/office/officeart/2005/8/layout/vList2"/>
    <dgm:cxn modelId="{4CC1E23E-5143-4D41-823F-D8E9F89B09D0}" type="presParOf" srcId="{648A1E48-3AEA-7A44-B53F-4AC10F76E53E}" destId="{89E81E5B-CE76-084D-BA00-416D4F2B2F92}" srcOrd="3" destOrd="0" presId="urn:microsoft.com/office/officeart/2005/8/layout/vList2"/>
    <dgm:cxn modelId="{3FA333B1-D8BD-384E-9D9C-EF70288AB086}" type="presParOf" srcId="{648A1E48-3AEA-7A44-B53F-4AC10F76E53E}" destId="{F47581BA-3CE3-BA4E-8DA0-E473B5BA068D}" srcOrd="4" destOrd="0" presId="urn:microsoft.com/office/officeart/2005/8/layout/vList2"/>
    <dgm:cxn modelId="{C554D17C-374D-E747-A455-433F39388A92}" type="presParOf" srcId="{648A1E48-3AEA-7A44-B53F-4AC10F76E53E}" destId="{64555B07-7871-9947-A65B-A858C1A6143B}" srcOrd="5" destOrd="0" presId="urn:microsoft.com/office/officeart/2005/8/layout/vList2"/>
    <dgm:cxn modelId="{77A81A12-78F2-0F46-99A0-11285EE29EE5}" type="presParOf" srcId="{648A1E48-3AEA-7A44-B53F-4AC10F76E53E}" destId="{DE1D913E-54C6-0943-9BEC-17D6248ABF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463E1F2-0E22-274B-9048-835E1A5642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46EA055-2750-F441-9CBA-EE2D55C94477}">
      <dgm:prSet/>
      <dgm:spPr/>
      <dgm:t>
        <a:bodyPr/>
        <a:lstStyle/>
        <a:p>
          <a:r>
            <a:rPr lang="en-ID" b="1" i="0" dirty="0"/>
            <a:t>Profile:</a:t>
          </a:r>
          <a:r>
            <a:rPr lang="en-ID" b="0" i="0" dirty="0"/>
            <a:t> Manual workers, modest education, risk-averse financial habits</a:t>
          </a:r>
          <a:endParaRPr lang="en-ID" dirty="0"/>
        </a:p>
      </dgm:t>
    </dgm:pt>
    <dgm:pt modelId="{667B2330-FDCA-1240-84AC-C2A06984AC55}" type="parTrans" cxnId="{5221E481-C995-0440-8193-68025D30943E}">
      <dgm:prSet/>
      <dgm:spPr/>
      <dgm:t>
        <a:bodyPr/>
        <a:lstStyle/>
        <a:p>
          <a:endParaRPr lang="en-US"/>
        </a:p>
      </dgm:t>
    </dgm:pt>
    <dgm:pt modelId="{1EFBB1FE-0696-1D4E-AF50-DA0CB7BFA00B}" type="sibTrans" cxnId="{5221E481-C995-0440-8193-68025D30943E}">
      <dgm:prSet/>
      <dgm:spPr/>
      <dgm:t>
        <a:bodyPr/>
        <a:lstStyle/>
        <a:p>
          <a:endParaRPr lang="en-US"/>
        </a:p>
      </dgm:t>
    </dgm:pt>
    <dgm:pt modelId="{00130453-1F56-A943-AD1C-6C42E61F4C64}">
      <dgm:prSet/>
      <dgm:spPr/>
      <dgm:t>
        <a:bodyPr/>
        <a:lstStyle/>
        <a:p>
          <a:r>
            <a:rPr lang="en-ID" b="1" i="0"/>
            <a:t>Strategy:</a:t>
          </a:r>
          <a:r>
            <a:rPr lang="en-ID"/>
            <a:t> </a:t>
          </a:r>
          <a:r>
            <a:rPr lang="en-ID" b="0" i="0"/>
            <a:t>Simplified savings and loan products</a:t>
          </a:r>
          <a:endParaRPr lang="en-ID"/>
        </a:p>
      </dgm:t>
    </dgm:pt>
    <dgm:pt modelId="{9F106E0F-FAB5-F249-8209-0DA5656100F6}" type="parTrans" cxnId="{5C635863-7CDE-114C-8615-D95F5D828548}">
      <dgm:prSet/>
      <dgm:spPr/>
      <dgm:t>
        <a:bodyPr/>
        <a:lstStyle/>
        <a:p>
          <a:endParaRPr lang="en-US"/>
        </a:p>
      </dgm:t>
    </dgm:pt>
    <dgm:pt modelId="{1BE75776-DE3A-D747-B7C4-96E912C49971}" type="sibTrans" cxnId="{5C635863-7CDE-114C-8615-D95F5D828548}">
      <dgm:prSet/>
      <dgm:spPr/>
      <dgm:t>
        <a:bodyPr/>
        <a:lstStyle/>
        <a:p>
          <a:endParaRPr lang="en-US"/>
        </a:p>
      </dgm:t>
    </dgm:pt>
    <dgm:pt modelId="{F3A503BE-EDEE-8645-A03E-A695F08209D7}">
      <dgm:prSet/>
      <dgm:spPr/>
      <dgm:t>
        <a:bodyPr/>
        <a:lstStyle/>
        <a:p>
          <a:r>
            <a:rPr lang="en-ID" b="1" i="0" dirty="0"/>
            <a:t>Channels</a:t>
          </a:r>
          <a:r>
            <a:rPr lang="en-ID" b="0" i="0" dirty="0"/>
            <a:t>: SMS, Branches</a:t>
          </a:r>
          <a:endParaRPr lang="en-ID" dirty="0"/>
        </a:p>
      </dgm:t>
    </dgm:pt>
    <dgm:pt modelId="{DFA46E1E-8A57-6A4D-AF5E-5ADAD4E35FE1}" type="parTrans" cxnId="{880C93DD-0F7A-F04B-9034-FC2F59C20F92}">
      <dgm:prSet/>
      <dgm:spPr/>
      <dgm:t>
        <a:bodyPr/>
        <a:lstStyle/>
        <a:p>
          <a:endParaRPr lang="en-US"/>
        </a:p>
      </dgm:t>
    </dgm:pt>
    <dgm:pt modelId="{0E681C80-78A9-7E46-AB8D-DE7C18AF30B6}" type="sibTrans" cxnId="{880C93DD-0F7A-F04B-9034-FC2F59C20F92}">
      <dgm:prSet/>
      <dgm:spPr/>
      <dgm:t>
        <a:bodyPr/>
        <a:lstStyle/>
        <a:p>
          <a:endParaRPr lang="en-US"/>
        </a:p>
      </dgm:t>
    </dgm:pt>
    <dgm:pt modelId="{A639A4C8-3364-F541-94D7-809852BB9575}">
      <dgm:prSet/>
      <dgm:spPr/>
      <dgm:t>
        <a:bodyPr/>
        <a:lstStyle/>
        <a:p>
          <a:r>
            <a:rPr lang="en-ID" b="1" i="0" dirty="0"/>
            <a:t>Message</a:t>
          </a:r>
          <a:r>
            <a:rPr lang="en-ID" b="0" i="0" dirty="0"/>
            <a:t>: "Banking that works for you"</a:t>
          </a:r>
          <a:endParaRPr lang="en-ID" dirty="0"/>
        </a:p>
      </dgm:t>
    </dgm:pt>
    <dgm:pt modelId="{4FC98D3F-E188-3043-BC0F-219AAB7722FA}" type="parTrans" cxnId="{9264D67E-C7F7-2D41-B989-C50257E516C5}">
      <dgm:prSet/>
      <dgm:spPr/>
      <dgm:t>
        <a:bodyPr/>
        <a:lstStyle/>
        <a:p>
          <a:endParaRPr lang="en-US"/>
        </a:p>
      </dgm:t>
    </dgm:pt>
    <dgm:pt modelId="{88DA5500-B15E-3543-B7B1-9DF6A51FB4F7}" type="sibTrans" cxnId="{9264D67E-C7F7-2D41-B989-C50257E516C5}">
      <dgm:prSet/>
      <dgm:spPr/>
      <dgm:t>
        <a:bodyPr/>
        <a:lstStyle/>
        <a:p>
          <a:endParaRPr lang="en-US"/>
        </a:p>
      </dgm:t>
    </dgm:pt>
    <dgm:pt modelId="{F94003CD-2D46-8945-A842-3DE57EDE6B08}" type="pres">
      <dgm:prSet presAssocID="{7463E1F2-0E22-274B-9048-835E1A56421B}" presName="linear" presStyleCnt="0">
        <dgm:presLayoutVars>
          <dgm:animLvl val="lvl"/>
          <dgm:resizeHandles val="exact"/>
        </dgm:presLayoutVars>
      </dgm:prSet>
      <dgm:spPr/>
    </dgm:pt>
    <dgm:pt modelId="{A33FF8DB-B0CE-5241-AA49-774D4381CC8F}" type="pres">
      <dgm:prSet presAssocID="{B46EA055-2750-F441-9CBA-EE2D55C94477}" presName="parentText" presStyleLbl="node1" presStyleIdx="0" presStyleCnt="4" custLinFactNeighborX="205">
        <dgm:presLayoutVars>
          <dgm:chMax val="0"/>
          <dgm:bulletEnabled val="1"/>
        </dgm:presLayoutVars>
      </dgm:prSet>
      <dgm:spPr/>
    </dgm:pt>
    <dgm:pt modelId="{9EE9E904-360C-B34A-806C-38807B859D53}" type="pres">
      <dgm:prSet presAssocID="{1EFBB1FE-0696-1D4E-AF50-DA0CB7BFA00B}" presName="spacer" presStyleCnt="0"/>
      <dgm:spPr/>
    </dgm:pt>
    <dgm:pt modelId="{9298383F-460D-1E49-92B3-FDE9B9A7205E}" type="pres">
      <dgm:prSet presAssocID="{00130453-1F56-A943-AD1C-6C42E61F4C6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2F2D1C5-AAE4-8F46-AC37-EF3AC48E8E38}" type="pres">
      <dgm:prSet presAssocID="{1BE75776-DE3A-D747-B7C4-96E912C49971}" presName="spacer" presStyleCnt="0"/>
      <dgm:spPr/>
    </dgm:pt>
    <dgm:pt modelId="{6326E4D5-DE3F-D54B-BF76-197F73B6E0B4}" type="pres">
      <dgm:prSet presAssocID="{F3A503BE-EDEE-8645-A03E-A695F08209D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7206EE4-B3CF-634D-AD0E-646CF1FF2B8B}" type="pres">
      <dgm:prSet presAssocID="{0E681C80-78A9-7E46-AB8D-DE7C18AF30B6}" presName="spacer" presStyleCnt="0"/>
      <dgm:spPr/>
    </dgm:pt>
    <dgm:pt modelId="{A118EAC9-6C1E-1C4E-8CEE-05DCD3D1994E}" type="pres">
      <dgm:prSet presAssocID="{A639A4C8-3364-F541-94D7-809852BB95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C635863-7CDE-114C-8615-D95F5D828548}" srcId="{7463E1F2-0E22-274B-9048-835E1A56421B}" destId="{00130453-1F56-A943-AD1C-6C42E61F4C64}" srcOrd="1" destOrd="0" parTransId="{9F106E0F-FAB5-F249-8209-0DA5656100F6}" sibTransId="{1BE75776-DE3A-D747-B7C4-96E912C49971}"/>
    <dgm:cxn modelId="{6E0CEE73-B303-0A48-82ED-144262F0701E}" type="presOf" srcId="{A639A4C8-3364-F541-94D7-809852BB9575}" destId="{A118EAC9-6C1E-1C4E-8CEE-05DCD3D1994E}" srcOrd="0" destOrd="0" presId="urn:microsoft.com/office/officeart/2005/8/layout/vList2"/>
    <dgm:cxn modelId="{6A61947D-6EF8-EB46-9111-026E1463BFB8}" type="presOf" srcId="{00130453-1F56-A943-AD1C-6C42E61F4C64}" destId="{9298383F-460D-1E49-92B3-FDE9B9A7205E}" srcOrd="0" destOrd="0" presId="urn:microsoft.com/office/officeart/2005/8/layout/vList2"/>
    <dgm:cxn modelId="{9264D67E-C7F7-2D41-B989-C50257E516C5}" srcId="{7463E1F2-0E22-274B-9048-835E1A56421B}" destId="{A639A4C8-3364-F541-94D7-809852BB9575}" srcOrd="3" destOrd="0" parTransId="{4FC98D3F-E188-3043-BC0F-219AAB7722FA}" sibTransId="{88DA5500-B15E-3543-B7B1-9DF6A51FB4F7}"/>
    <dgm:cxn modelId="{5221E481-C995-0440-8193-68025D30943E}" srcId="{7463E1F2-0E22-274B-9048-835E1A56421B}" destId="{B46EA055-2750-F441-9CBA-EE2D55C94477}" srcOrd="0" destOrd="0" parTransId="{667B2330-FDCA-1240-84AC-C2A06984AC55}" sibTransId="{1EFBB1FE-0696-1D4E-AF50-DA0CB7BFA00B}"/>
    <dgm:cxn modelId="{70566DA6-2DC4-0D48-B3AC-5AD6B1DB4B6C}" type="presOf" srcId="{7463E1F2-0E22-274B-9048-835E1A56421B}" destId="{F94003CD-2D46-8945-A842-3DE57EDE6B08}" srcOrd="0" destOrd="0" presId="urn:microsoft.com/office/officeart/2005/8/layout/vList2"/>
    <dgm:cxn modelId="{DF6216BD-9B94-4241-926F-A83C93178606}" type="presOf" srcId="{B46EA055-2750-F441-9CBA-EE2D55C94477}" destId="{A33FF8DB-B0CE-5241-AA49-774D4381CC8F}" srcOrd="0" destOrd="0" presId="urn:microsoft.com/office/officeart/2005/8/layout/vList2"/>
    <dgm:cxn modelId="{880C93DD-0F7A-F04B-9034-FC2F59C20F92}" srcId="{7463E1F2-0E22-274B-9048-835E1A56421B}" destId="{F3A503BE-EDEE-8645-A03E-A695F08209D7}" srcOrd="2" destOrd="0" parTransId="{DFA46E1E-8A57-6A4D-AF5E-5ADAD4E35FE1}" sibTransId="{0E681C80-78A9-7E46-AB8D-DE7C18AF30B6}"/>
    <dgm:cxn modelId="{FE5B0DFB-5F33-0B43-B368-888E92518E57}" type="presOf" srcId="{F3A503BE-EDEE-8645-A03E-A695F08209D7}" destId="{6326E4D5-DE3F-D54B-BF76-197F73B6E0B4}" srcOrd="0" destOrd="0" presId="urn:microsoft.com/office/officeart/2005/8/layout/vList2"/>
    <dgm:cxn modelId="{C2502DE7-CBE2-6741-941F-0A81773B46F8}" type="presParOf" srcId="{F94003CD-2D46-8945-A842-3DE57EDE6B08}" destId="{A33FF8DB-B0CE-5241-AA49-774D4381CC8F}" srcOrd="0" destOrd="0" presId="urn:microsoft.com/office/officeart/2005/8/layout/vList2"/>
    <dgm:cxn modelId="{C3DDA384-F9F2-DD49-9622-283D949430F2}" type="presParOf" srcId="{F94003CD-2D46-8945-A842-3DE57EDE6B08}" destId="{9EE9E904-360C-B34A-806C-38807B859D53}" srcOrd="1" destOrd="0" presId="urn:microsoft.com/office/officeart/2005/8/layout/vList2"/>
    <dgm:cxn modelId="{22203E85-8318-3644-B8B1-51D20CF3B389}" type="presParOf" srcId="{F94003CD-2D46-8945-A842-3DE57EDE6B08}" destId="{9298383F-460D-1E49-92B3-FDE9B9A7205E}" srcOrd="2" destOrd="0" presId="urn:microsoft.com/office/officeart/2005/8/layout/vList2"/>
    <dgm:cxn modelId="{3EDEC25C-F0E6-A04A-857B-73FAA7494DCC}" type="presParOf" srcId="{F94003CD-2D46-8945-A842-3DE57EDE6B08}" destId="{B2F2D1C5-AAE4-8F46-AC37-EF3AC48E8E38}" srcOrd="3" destOrd="0" presId="urn:microsoft.com/office/officeart/2005/8/layout/vList2"/>
    <dgm:cxn modelId="{AD3A70A5-6A35-0C45-BB97-680835844C09}" type="presParOf" srcId="{F94003CD-2D46-8945-A842-3DE57EDE6B08}" destId="{6326E4D5-DE3F-D54B-BF76-197F73B6E0B4}" srcOrd="4" destOrd="0" presId="urn:microsoft.com/office/officeart/2005/8/layout/vList2"/>
    <dgm:cxn modelId="{62DC1F0B-7B29-4745-B7BF-C8DDAE99A288}" type="presParOf" srcId="{F94003CD-2D46-8945-A842-3DE57EDE6B08}" destId="{C7206EE4-B3CF-634D-AD0E-646CF1FF2B8B}" srcOrd="5" destOrd="0" presId="urn:microsoft.com/office/officeart/2005/8/layout/vList2"/>
    <dgm:cxn modelId="{6F041B90-54CD-FD42-B542-C88CF5C7F1AD}" type="presParOf" srcId="{F94003CD-2D46-8945-A842-3DE57EDE6B08}" destId="{A118EAC9-6C1E-1C4E-8CEE-05DCD3D1994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6900051-C9E0-9E43-9524-6A12B12E80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F3DD8D-352D-804A-9415-D7A64B707028}">
      <dgm:prSet/>
      <dgm:spPr/>
      <dgm:t>
        <a:bodyPr/>
        <a:lstStyle/>
        <a:p>
          <a:r>
            <a:rPr lang="en-ID" b="1" i="0" dirty="0"/>
            <a:t>Profile:</a:t>
          </a:r>
          <a:r>
            <a:rPr lang="en-ID" b="0" i="0" dirty="0"/>
            <a:t> Managers, highly educated, higher income bracket</a:t>
          </a:r>
          <a:endParaRPr lang="en-ID" dirty="0"/>
        </a:p>
      </dgm:t>
    </dgm:pt>
    <dgm:pt modelId="{F9A1A609-020B-884E-A7EB-3451E2993236}" type="parTrans" cxnId="{7BEA18A1-2D7F-4649-84C1-BD6DBBE215C5}">
      <dgm:prSet/>
      <dgm:spPr/>
      <dgm:t>
        <a:bodyPr/>
        <a:lstStyle/>
        <a:p>
          <a:endParaRPr lang="en-US"/>
        </a:p>
      </dgm:t>
    </dgm:pt>
    <dgm:pt modelId="{519C27EC-C1FB-D148-9CCD-5E89163B7BF3}" type="sibTrans" cxnId="{7BEA18A1-2D7F-4649-84C1-BD6DBBE215C5}">
      <dgm:prSet/>
      <dgm:spPr/>
      <dgm:t>
        <a:bodyPr/>
        <a:lstStyle/>
        <a:p>
          <a:endParaRPr lang="en-US"/>
        </a:p>
      </dgm:t>
    </dgm:pt>
    <dgm:pt modelId="{A6395CD9-DA68-F842-9C84-CE07075C13F6}">
      <dgm:prSet/>
      <dgm:spPr/>
      <dgm:t>
        <a:bodyPr/>
        <a:lstStyle/>
        <a:p>
          <a:r>
            <a:rPr lang="en-ID" b="1" i="0"/>
            <a:t>Strategy: </a:t>
          </a:r>
          <a:r>
            <a:rPr lang="en-ID" b="0" i="0"/>
            <a:t>Wealth management services, portfolio products</a:t>
          </a:r>
          <a:endParaRPr lang="en-ID"/>
        </a:p>
      </dgm:t>
    </dgm:pt>
    <dgm:pt modelId="{10ED5FB1-3DE9-3F43-84BA-20BDCA1FB52D}" type="parTrans" cxnId="{C89A3B8F-1E77-2E4B-B34F-38411BD2FBBA}">
      <dgm:prSet/>
      <dgm:spPr/>
      <dgm:t>
        <a:bodyPr/>
        <a:lstStyle/>
        <a:p>
          <a:endParaRPr lang="en-US"/>
        </a:p>
      </dgm:t>
    </dgm:pt>
    <dgm:pt modelId="{104E5562-2CE9-E141-BC7A-762E810E4ABD}" type="sibTrans" cxnId="{C89A3B8F-1E77-2E4B-B34F-38411BD2FBBA}">
      <dgm:prSet/>
      <dgm:spPr/>
      <dgm:t>
        <a:bodyPr/>
        <a:lstStyle/>
        <a:p>
          <a:endParaRPr lang="en-US"/>
        </a:p>
      </dgm:t>
    </dgm:pt>
    <dgm:pt modelId="{DF26D711-29EC-5645-A2DB-D74EC68B633D}">
      <dgm:prSet/>
      <dgm:spPr/>
      <dgm:t>
        <a:bodyPr/>
        <a:lstStyle/>
        <a:p>
          <a:r>
            <a:rPr lang="en-ID" b="1" i="0"/>
            <a:t>Channels</a:t>
          </a:r>
          <a:r>
            <a:rPr lang="en-ID" b="0" i="0"/>
            <a:t>: Relationship Managers, App</a:t>
          </a:r>
          <a:endParaRPr lang="en-ID"/>
        </a:p>
      </dgm:t>
    </dgm:pt>
    <dgm:pt modelId="{C121A4CD-607B-4E4C-813A-F8E0F689B27B}" type="parTrans" cxnId="{6B228E80-6525-074B-88A0-00A1FF8CDCC9}">
      <dgm:prSet/>
      <dgm:spPr/>
      <dgm:t>
        <a:bodyPr/>
        <a:lstStyle/>
        <a:p>
          <a:endParaRPr lang="en-US"/>
        </a:p>
      </dgm:t>
    </dgm:pt>
    <dgm:pt modelId="{4BB0AC36-1A41-1749-9752-C19604A84135}" type="sibTrans" cxnId="{6B228E80-6525-074B-88A0-00A1FF8CDCC9}">
      <dgm:prSet/>
      <dgm:spPr/>
      <dgm:t>
        <a:bodyPr/>
        <a:lstStyle/>
        <a:p>
          <a:endParaRPr lang="en-US"/>
        </a:p>
      </dgm:t>
    </dgm:pt>
    <dgm:pt modelId="{AB49D339-E445-9340-B144-452CAE909354}">
      <dgm:prSet/>
      <dgm:spPr/>
      <dgm:t>
        <a:bodyPr/>
        <a:lstStyle/>
        <a:p>
          <a:r>
            <a:rPr lang="en-ID" b="1" i="0"/>
            <a:t>Message</a:t>
          </a:r>
          <a:r>
            <a:rPr lang="en-ID" b="0" i="0"/>
            <a:t>: "Tailored solutions for your lifestyle"</a:t>
          </a:r>
          <a:endParaRPr lang="en-ID"/>
        </a:p>
      </dgm:t>
    </dgm:pt>
    <dgm:pt modelId="{DF8E751A-A968-C848-8F51-BEC917DB1B48}" type="parTrans" cxnId="{485D8A4E-1C52-7D49-A23E-C34CF76EDAAE}">
      <dgm:prSet/>
      <dgm:spPr/>
      <dgm:t>
        <a:bodyPr/>
        <a:lstStyle/>
        <a:p>
          <a:endParaRPr lang="en-US"/>
        </a:p>
      </dgm:t>
    </dgm:pt>
    <dgm:pt modelId="{54F67353-7538-5C48-AB36-463F9B66CB05}" type="sibTrans" cxnId="{485D8A4E-1C52-7D49-A23E-C34CF76EDAAE}">
      <dgm:prSet/>
      <dgm:spPr/>
      <dgm:t>
        <a:bodyPr/>
        <a:lstStyle/>
        <a:p>
          <a:endParaRPr lang="en-US"/>
        </a:p>
      </dgm:t>
    </dgm:pt>
    <dgm:pt modelId="{2BAE428D-D430-4248-B900-0C78C2B1215F}" type="pres">
      <dgm:prSet presAssocID="{76900051-C9E0-9E43-9524-6A12B12E802B}" presName="linear" presStyleCnt="0">
        <dgm:presLayoutVars>
          <dgm:animLvl val="lvl"/>
          <dgm:resizeHandles val="exact"/>
        </dgm:presLayoutVars>
      </dgm:prSet>
      <dgm:spPr/>
    </dgm:pt>
    <dgm:pt modelId="{219735E7-D1E6-5C4D-AFBB-9D7912087A5C}" type="pres">
      <dgm:prSet presAssocID="{04F3DD8D-352D-804A-9415-D7A64B7070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DD0A54-A14D-0E49-BE74-8F30E9702CA2}" type="pres">
      <dgm:prSet presAssocID="{519C27EC-C1FB-D148-9CCD-5E89163B7BF3}" presName="spacer" presStyleCnt="0"/>
      <dgm:spPr/>
    </dgm:pt>
    <dgm:pt modelId="{14C8753C-5866-E24E-8042-983E81AA2D6B}" type="pres">
      <dgm:prSet presAssocID="{A6395CD9-DA68-F842-9C84-CE07075C13F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28ABAB-B4A7-664F-A9BD-1BC205FDF0DD}" type="pres">
      <dgm:prSet presAssocID="{104E5562-2CE9-E141-BC7A-762E810E4ABD}" presName="spacer" presStyleCnt="0"/>
      <dgm:spPr/>
    </dgm:pt>
    <dgm:pt modelId="{2C8A0853-F547-0441-8DF6-99F3D7A55276}" type="pres">
      <dgm:prSet presAssocID="{DF26D711-29EC-5645-A2DB-D74EC68B633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20C475-CE99-804C-A468-5ADD4F4EE7CF}" type="pres">
      <dgm:prSet presAssocID="{4BB0AC36-1A41-1749-9752-C19604A84135}" presName="spacer" presStyleCnt="0"/>
      <dgm:spPr/>
    </dgm:pt>
    <dgm:pt modelId="{6C319BBA-81CF-4946-8E6F-3887D8DF847B}" type="pres">
      <dgm:prSet presAssocID="{AB49D339-E445-9340-B144-452CAE90935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744720C-3843-B145-84F1-6625C65998C0}" type="presOf" srcId="{04F3DD8D-352D-804A-9415-D7A64B707028}" destId="{219735E7-D1E6-5C4D-AFBB-9D7912087A5C}" srcOrd="0" destOrd="0" presId="urn:microsoft.com/office/officeart/2005/8/layout/vList2"/>
    <dgm:cxn modelId="{485D8A4E-1C52-7D49-A23E-C34CF76EDAAE}" srcId="{76900051-C9E0-9E43-9524-6A12B12E802B}" destId="{AB49D339-E445-9340-B144-452CAE909354}" srcOrd="3" destOrd="0" parTransId="{DF8E751A-A968-C848-8F51-BEC917DB1B48}" sibTransId="{54F67353-7538-5C48-AB36-463F9B66CB05}"/>
    <dgm:cxn modelId="{2FC53355-D765-F84E-BB24-13742FBAF456}" type="presOf" srcId="{A6395CD9-DA68-F842-9C84-CE07075C13F6}" destId="{14C8753C-5866-E24E-8042-983E81AA2D6B}" srcOrd="0" destOrd="0" presId="urn:microsoft.com/office/officeart/2005/8/layout/vList2"/>
    <dgm:cxn modelId="{6B228E80-6525-074B-88A0-00A1FF8CDCC9}" srcId="{76900051-C9E0-9E43-9524-6A12B12E802B}" destId="{DF26D711-29EC-5645-A2DB-D74EC68B633D}" srcOrd="2" destOrd="0" parTransId="{C121A4CD-607B-4E4C-813A-F8E0F689B27B}" sibTransId="{4BB0AC36-1A41-1749-9752-C19604A84135}"/>
    <dgm:cxn modelId="{C89A3B8F-1E77-2E4B-B34F-38411BD2FBBA}" srcId="{76900051-C9E0-9E43-9524-6A12B12E802B}" destId="{A6395CD9-DA68-F842-9C84-CE07075C13F6}" srcOrd="1" destOrd="0" parTransId="{10ED5FB1-3DE9-3F43-84BA-20BDCA1FB52D}" sibTransId="{104E5562-2CE9-E141-BC7A-762E810E4ABD}"/>
    <dgm:cxn modelId="{3C2DB89A-73C6-E54B-A0A4-92C5927236F4}" type="presOf" srcId="{76900051-C9E0-9E43-9524-6A12B12E802B}" destId="{2BAE428D-D430-4248-B900-0C78C2B1215F}" srcOrd="0" destOrd="0" presId="urn:microsoft.com/office/officeart/2005/8/layout/vList2"/>
    <dgm:cxn modelId="{7BEA18A1-2D7F-4649-84C1-BD6DBBE215C5}" srcId="{76900051-C9E0-9E43-9524-6A12B12E802B}" destId="{04F3DD8D-352D-804A-9415-D7A64B707028}" srcOrd="0" destOrd="0" parTransId="{F9A1A609-020B-884E-A7EB-3451E2993236}" sibTransId="{519C27EC-C1FB-D148-9CCD-5E89163B7BF3}"/>
    <dgm:cxn modelId="{418C7FE3-7F70-A94F-8FD1-683404711F1A}" type="presOf" srcId="{AB49D339-E445-9340-B144-452CAE909354}" destId="{6C319BBA-81CF-4946-8E6F-3887D8DF847B}" srcOrd="0" destOrd="0" presId="urn:microsoft.com/office/officeart/2005/8/layout/vList2"/>
    <dgm:cxn modelId="{97EC68EB-3D69-B247-9159-76B9ADBE81A2}" type="presOf" srcId="{DF26D711-29EC-5645-A2DB-D74EC68B633D}" destId="{2C8A0853-F547-0441-8DF6-99F3D7A55276}" srcOrd="0" destOrd="0" presId="urn:microsoft.com/office/officeart/2005/8/layout/vList2"/>
    <dgm:cxn modelId="{1C6AB30B-B3AC-CF4D-B245-47CA288D79BF}" type="presParOf" srcId="{2BAE428D-D430-4248-B900-0C78C2B1215F}" destId="{219735E7-D1E6-5C4D-AFBB-9D7912087A5C}" srcOrd="0" destOrd="0" presId="urn:microsoft.com/office/officeart/2005/8/layout/vList2"/>
    <dgm:cxn modelId="{512A20BB-C985-7E4C-B923-0908AD1165F8}" type="presParOf" srcId="{2BAE428D-D430-4248-B900-0C78C2B1215F}" destId="{B5DD0A54-A14D-0E49-BE74-8F30E9702CA2}" srcOrd="1" destOrd="0" presId="urn:microsoft.com/office/officeart/2005/8/layout/vList2"/>
    <dgm:cxn modelId="{B927F731-31E1-7841-87D8-FB45BD430DFD}" type="presParOf" srcId="{2BAE428D-D430-4248-B900-0C78C2B1215F}" destId="{14C8753C-5866-E24E-8042-983E81AA2D6B}" srcOrd="2" destOrd="0" presId="urn:microsoft.com/office/officeart/2005/8/layout/vList2"/>
    <dgm:cxn modelId="{42A1C217-B096-4146-A5D5-8625F003A3F9}" type="presParOf" srcId="{2BAE428D-D430-4248-B900-0C78C2B1215F}" destId="{9228ABAB-B4A7-664F-A9BD-1BC205FDF0DD}" srcOrd="3" destOrd="0" presId="urn:microsoft.com/office/officeart/2005/8/layout/vList2"/>
    <dgm:cxn modelId="{6C71F901-BF61-4846-8B98-96F04D07140A}" type="presParOf" srcId="{2BAE428D-D430-4248-B900-0C78C2B1215F}" destId="{2C8A0853-F547-0441-8DF6-99F3D7A55276}" srcOrd="4" destOrd="0" presId="urn:microsoft.com/office/officeart/2005/8/layout/vList2"/>
    <dgm:cxn modelId="{575266AA-5A3F-A541-96B0-40CF32FABE2C}" type="presParOf" srcId="{2BAE428D-D430-4248-B900-0C78C2B1215F}" destId="{E420C475-CE99-804C-A468-5ADD4F4EE7CF}" srcOrd="5" destOrd="0" presId="urn:microsoft.com/office/officeart/2005/8/layout/vList2"/>
    <dgm:cxn modelId="{9001D45C-D927-A343-825B-F49E3F5BD9C7}" type="presParOf" srcId="{2BAE428D-D430-4248-B900-0C78C2B1215F}" destId="{6C319BBA-81CF-4946-8E6F-3887D8DF847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23B675-3A5D-1249-8484-26DB00E85D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B267F1-CE24-B246-A3ED-171B8926F749}">
      <dgm:prSet/>
      <dgm:spPr/>
      <dgm:t>
        <a:bodyPr/>
        <a:lstStyle/>
        <a:p>
          <a:r>
            <a:rPr lang="en-ID" b="1" i="0" dirty="0"/>
            <a:t>Profile:</a:t>
          </a:r>
          <a:r>
            <a:rPr lang="en-ID" b="0" i="0" dirty="0"/>
            <a:t> Mixed background, disengaged from financial products</a:t>
          </a:r>
          <a:endParaRPr lang="en-ID" dirty="0"/>
        </a:p>
      </dgm:t>
    </dgm:pt>
    <dgm:pt modelId="{16F9D28E-848C-1F49-9AA3-3F570D8B52B5}" type="parTrans" cxnId="{0FD76893-4B3F-8141-82D5-A097AC78D9E6}">
      <dgm:prSet/>
      <dgm:spPr/>
      <dgm:t>
        <a:bodyPr/>
        <a:lstStyle/>
        <a:p>
          <a:endParaRPr lang="en-US"/>
        </a:p>
      </dgm:t>
    </dgm:pt>
    <dgm:pt modelId="{0BB657FA-4E8A-8C46-9C19-22A0D0F9DE74}" type="sibTrans" cxnId="{0FD76893-4B3F-8141-82D5-A097AC78D9E6}">
      <dgm:prSet/>
      <dgm:spPr/>
      <dgm:t>
        <a:bodyPr/>
        <a:lstStyle/>
        <a:p>
          <a:endParaRPr lang="en-US"/>
        </a:p>
      </dgm:t>
    </dgm:pt>
    <dgm:pt modelId="{56CF492D-F09B-B14E-AE32-F7113DBE22A3}">
      <dgm:prSet/>
      <dgm:spPr/>
      <dgm:t>
        <a:bodyPr/>
        <a:lstStyle/>
        <a:p>
          <a:r>
            <a:rPr lang="en-ID" b="1" i="0"/>
            <a:t>Strategy:</a:t>
          </a:r>
          <a:r>
            <a:rPr lang="en-ID"/>
            <a:t> </a:t>
          </a:r>
          <a:r>
            <a:rPr lang="en-ID" b="0" i="0"/>
            <a:t>Financial literacy programs, no-fee accounts</a:t>
          </a:r>
          <a:endParaRPr lang="en-ID"/>
        </a:p>
      </dgm:t>
    </dgm:pt>
    <dgm:pt modelId="{B804CFBB-79B8-394D-90BA-13A8438072C1}" type="parTrans" cxnId="{44C0BCF4-715E-8D4F-8EEF-3CA2D6053131}">
      <dgm:prSet/>
      <dgm:spPr/>
      <dgm:t>
        <a:bodyPr/>
        <a:lstStyle/>
        <a:p>
          <a:endParaRPr lang="en-US"/>
        </a:p>
      </dgm:t>
    </dgm:pt>
    <dgm:pt modelId="{7351F04A-1303-8048-ADE5-95DCC8929285}" type="sibTrans" cxnId="{44C0BCF4-715E-8D4F-8EEF-3CA2D6053131}">
      <dgm:prSet/>
      <dgm:spPr/>
      <dgm:t>
        <a:bodyPr/>
        <a:lstStyle/>
        <a:p>
          <a:endParaRPr lang="en-US"/>
        </a:p>
      </dgm:t>
    </dgm:pt>
    <dgm:pt modelId="{C3A5F03D-E8B2-444F-8018-29736269C412}">
      <dgm:prSet/>
      <dgm:spPr/>
      <dgm:t>
        <a:bodyPr/>
        <a:lstStyle/>
        <a:p>
          <a:r>
            <a:rPr lang="en-ID" b="1" i="0"/>
            <a:t>Channels</a:t>
          </a:r>
          <a:r>
            <a:rPr lang="en-ID" b="0" i="0"/>
            <a:t>: Community Outreach</a:t>
          </a:r>
          <a:endParaRPr lang="en-ID"/>
        </a:p>
      </dgm:t>
    </dgm:pt>
    <dgm:pt modelId="{4CD49B8A-2E8B-8E40-B10F-FAC50D9700A9}" type="parTrans" cxnId="{4B2C51E1-E9B2-654F-81E6-69DB8AB8C517}">
      <dgm:prSet/>
      <dgm:spPr/>
      <dgm:t>
        <a:bodyPr/>
        <a:lstStyle/>
        <a:p>
          <a:endParaRPr lang="en-US"/>
        </a:p>
      </dgm:t>
    </dgm:pt>
    <dgm:pt modelId="{359466CE-E3FD-3B45-98ED-6E502142E1EE}" type="sibTrans" cxnId="{4B2C51E1-E9B2-654F-81E6-69DB8AB8C517}">
      <dgm:prSet/>
      <dgm:spPr/>
      <dgm:t>
        <a:bodyPr/>
        <a:lstStyle/>
        <a:p>
          <a:endParaRPr lang="en-US"/>
        </a:p>
      </dgm:t>
    </dgm:pt>
    <dgm:pt modelId="{530349BB-D768-C245-9A0A-178B288A3376}">
      <dgm:prSet/>
      <dgm:spPr/>
      <dgm:t>
        <a:bodyPr/>
        <a:lstStyle/>
        <a:p>
          <a:r>
            <a:rPr lang="en-ID" b="1" i="0"/>
            <a:t>Message</a:t>
          </a:r>
          <a:r>
            <a:rPr lang="en-ID" b="0" i="0"/>
            <a:t>: "Start with one small step"</a:t>
          </a:r>
          <a:endParaRPr lang="en-ID"/>
        </a:p>
      </dgm:t>
    </dgm:pt>
    <dgm:pt modelId="{B0A6FD9F-03F7-494A-8BEE-B8039E551F58}" type="parTrans" cxnId="{D4B9ED74-195F-AC41-A79C-700F94C43A33}">
      <dgm:prSet/>
      <dgm:spPr/>
      <dgm:t>
        <a:bodyPr/>
        <a:lstStyle/>
        <a:p>
          <a:endParaRPr lang="en-US"/>
        </a:p>
      </dgm:t>
    </dgm:pt>
    <dgm:pt modelId="{9149D211-E0BE-5440-B5E6-BC5D69645B19}" type="sibTrans" cxnId="{D4B9ED74-195F-AC41-A79C-700F94C43A33}">
      <dgm:prSet/>
      <dgm:spPr/>
      <dgm:t>
        <a:bodyPr/>
        <a:lstStyle/>
        <a:p>
          <a:endParaRPr lang="en-US"/>
        </a:p>
      </dgm:t>
    </dgm:pt>
    <dgm:pt modelId="{6B533A0E-38C9-BF45-8BCA-47441547D062}" type="pres">
      <dgm:prSet presAssocID="{F423B675-3A5D-1249-8484-26DB00E85D03}" presName="linear" presStyleCnt="0">
        <dgm:presLayoutVars>
          <dgm:animLvl val="lvl"/>
          <dgm:resizeHandles val="exact"/>
        </dgm:presLayoutVars>
      </dgm:prSet>
      <dgm:spPr/>
    </dgm:pt>
    <dgm:pt modelId="{30C9A740-BCD6-8744-8483-EFDEF055E9BA}" type="pres">
      <dgm:prSet presAssocID="{98B267F1-CE24-B246-A3ED-171B8926F749}" presName="parentText" presStyleLbl="node1" presStyleIdx="0" presStyleCnt="4" custLinFactNeighborY="0">
        <dgm:presLayoutVars>
          <dgm:chMax val="0"/>
          <dgm:bulletEnabled val="1"/>
        </dgm:presLayoutVars>
      </dgm:prSet>
      <dgm:spPr/>
    </dgm:pt>
    <dgm:pt modelId="{A74F4BFA-FFDA-5240-BC32-64C802816BA1}" type="pres">
      <dgm:prSet presAssocID="{0BB657FA-4E8A-8C46-9C19-22A0D0F9DE74}" presName="spacer" presStyleCnt="0"/>
      <dgm:spPr/>
    </dgm:pt>
    <dgm:pt modelId="{1E54F97E-165A-6C42-B43B-70538EAFEA6E}" type="pres">
      <dgm:prSet presAssocID="{56CF492D-F09B-B14E-AE32-F7113DBE22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93AD885-5BC8-5D4A-867B-C1C256001289}" type="pres">
      <dgm:prSet presAssocID="{7351F04A-1303-8048-ADE5-95DCC8929285}" presName="spacer" presStyleCnt="0"/>
      <dgm:spPr/>
    </dgm:pt>
    <dgm:pt modelId="{9586AB96-D4D3-874E-8CCE-E9E521E96EFC}" type="pres">
      <dgm:prSet presAssocID="{C3A5F03D-E8B2-444F-8018-29736269C41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DA5680-4694-0F4D-BF68-574E3BF6F053}" type="pres">
      <dgm:prSet presAssocID="{359466CE-E3FD-3B45-98ED-6E502142E1EE}" presName="spacer" presStyleCnt="0"/>
      <dgm:spPr/>
    </dgm:pt>
    <dgm:pt modelId="{A741DC12-F42C-BB4C-BC9F-0A1657CC26D0}" type="pres">
      <dgm:prSet presAssocID="{530349BB-D768-C245-9A0A-178B288A33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E04934-CF52-1B40-A67E-8ADA5F046CF4}" type="presOf" srcId="{530349BB-D768-C245-9A0A-178B288A3376}" destId="{A741DC12-F42C-BB4C-BC9F-0A1657CC26D0}" srcOrd="0" destOrd="0" presId="urn:microsoft.com/office/officeart/2005/8/layout/vList2"/>
    <dgm:cxn modelId="{6218243D-1EA1-A447-9B4E-4F6A47E9EAA8}" type="presOf" srcId="{56CF492D-F09B-B14E-AE32-F7113DBE22A3}" destId="{1E54F97E-165A-6C42-B43B-70538EAFEA6E}" srcOrd="0" destOrd="0" presId="urn:microsoft.com/office/officeart/2005/8/layout/vList2"/>
    <dgm:cxn modelId="{F1B5794B-C114-E445-9942-B8A0295C87B6}" type="presOf" srcId="{C3A5F03D-E8B2-444F-8018-29736269C412}" destId="{9586AB96-D4D3-874E-8CCE-E9E521E96EFC}" srcOrd="0" destOrd="0" presId="urn:microsoft.com/office/officeart/2005/8/layout/vList2"/>
    <dgm:cxn modelId="{8B839E5F-DE45-9F45-91E9-4209170CA289}" type="presOf" srcId="{F423B675-3A5D-1249-8484-26DB00E85D03}" destId="{6B533A0E-38C9-BF45-8BCA-47441547D062}" srcOrd="0" destOrd="0" presId="urn:microsoft.com/office/officeart/2005/8/layout/vList2"/>
    <dgm:cxn modelId="{77CD2673-B64C-614D-BC78-1245861F3319}" type="presOf" srcId="{98B267F1-CE24-B246-A3ED-171B8926F749}" destId="{30C9A740-BCD6-8744-8483-EFDEF055E9BA}" srcOrd="0" destOrd="0" presId="urn:microsoft.com/office/officeart/2005/8/layout/vList2"/>
    <dgm:cxn modelId="{D4B9ED74-195F-AC41-A79C-700F94C43A33}" srcId="{F423B675-3A5D-1249-8484-26DB00E85D03}" destId="{530349BB-D768-C245-9A0A-178B288A3376}" srcOrd="3" destOrd="0" parTransId="{B0A6FD9F-03F7-494A-8BEE-B8039E551F58}" sibTransId="{9149D211-E0BE-5440-B5E6-BC5D69645B19}"/>
    <dgm:cxn modelId="{0FD76893-4B3F-8141-82D5-A097AC78D9E6}" srcId="{F423B675-3A5D-1249-8484-26DB00E85D03}" destId="{98B267F1-CE24-B246-A3ED-171B8926F749}" srcOrd="0" destOrd="0" parTransId="{16F9D28E-848C-1F49-9AA3-3F570D8B52B5}" sibTransId="{0BB657FA-4E8A-8C46-9C19-22A0D0F9DE74}"/>
    <dgm:cxn modelId="{4B2C51E1-E9B2-654F-81E6-69DB8AB8C517}" srcId="{F423B675-3A5D-1249-8484-26DB00E85D03}" destId="{C3A5F03D-E8B2-444F-8018-29736269C412}" srcOrd="2" destOrd="0" parTransId="{4CD49B8A-2E8B-8E40-B10F-FAC50D9700A9}" sibTransId="{359466CE-E3FD-3B45-98ED-6E502142E1EE}"/>
    <dgm:cxn modelId="{44C0BCF4-715E-8D4F-8EEF-3CA2D6053131}" srcId="{F423B675-3A5D-1249-8484-26DB00E85D03}" destId="{56CF492D-F09B-B14E-AE32-F7113DBE22A3}" srcOrd="1" destOrd="0" parTransId="{B804CFBB-79B8-394D-90BA-13A8438072C1}" sibTransId="{7351F04A-1303-8048-ADE5-95DCC8929285}"/>
    <dgm:cxn modelId="{7B708D6F-C94D-4E4C-B58F-A73EE5BB05EA}" type="presParOf" srcId="{6B533A0E-38C9-BF45-8BCA-47441547D062}" destId="{30C9A740-BCD6-8744-8483-EFDEF055E9BA}" srcOrd="0" destOrd="0" presId="urn:microsoft.com/office/officeart/2005/8/layout/vList2"/>
    <dgm:cxn modelId="{CCBE65D3-68C8-A540-8D43-36969355731E}" type="presParOf" srcId="{6B533A0E-38C9-BF45-8BCA-47441547D062}" destId="{A74F4BFA-FFDA-5240-BC32-64C802816BA1}" srcOrd="1" destOrd="0" presId="urn:microsoft.com/office/officeart/2005/8/layout/vList2"/>
    <dgm:cxn modelId="{C34A7323-089A-B045-858C-677713684C14}" type="presParOf" srcId="{6B533A0E-38C9-BF45-8BCA-47441547D062}" destId="{1E54F97E-165A-6C42-B43B-70538EAFEA6E}" srcOrd="2" destOrd="0" presId="urn:microsoft.com/office/officeart/2005/8/layout/vList2"/>
    <dgm:cxn modelId="{C233B160-0B92-274A-B557-13DF0859D4A9}" type="presParOf" srcId="{6B533A0E-38C9-BF45-8BCA-47441547D062}" destId="{D93AD885-5BC8-5D4A-867B-C1C256001289}" srcOrd="3" destOrd="0" presId="urn:microsoft.com/office/officeart/2005/8/layout/vList2"/>
    <dgm:cxn modelId="{8EA7D918-0482-9240-B9DE-07D6A75A767B}" type="presParOf" srcId="{6B533A0E-38C9-BF45-8BCA-47441547D062}" destId="{9586AB96-D4D3-874E-8CCE-E9E521E96EFC}" srcOrd="4" destOrd="0" presId="urn:microsoft.com/office/officeart/2005/8/layout/vList2"/>
    <dgm:cxn modelId="{DBCB91E6-5945-6549-8A3B-4BFF43FFA436}" type="presParOf" srcId="{6B533A0E-38C9-BF45-8BCA-47441547D062}" destId="{91DA5680-4694-0F4D-BF68-574E3BF6F053}" srcOrd="5" destOrd="0" presId="urn:microsoft.com/office/officeart/2005/8/layout/vList2"/>
    <dgm:cxn modelId="{825637DF-3461-B54E-97B0-DD7BCC1CC25D}" type="presParOf" srcId="{6B533A0E-38C9-BF45-8BCA-47441547D062}" destId="{A741DC12-F42C-BB4C-BC9F-0A1657CC26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49284-DA66-3F42-B661-F7BED9034150}">
      <dsp:nvSpPr>
        <dsp:cNvPr id="0" name=""/>
        <dsp:cNvSpPr/>
      </dsp:nvSpPr>
      <dsp:spPr>
        <a:xfrm>
          <a:off x="0" y="140531"/>
          <a:ext cx="7850459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800" b="1" i="0" u="none" strike="noStrike" kern="1200" dirty="0">
              <a:effectLst/>
            </a:rPr>
            <a:t>Objective</a:t>
          </a:r>
          <a:endParaRPr lang="en-US" sz="2800" kern="1200" dirty="0"/>
        </a:p>
      </dsp:txBody>
      <dsp:txXfrm>
        <a:off x="32784" y="173315"/>
        <a:ext cx="7784891" cy="606012"/>
      </dsp:txXfrm>
    </dsp:sp>
    <dsp:sp modelId="{DD897AAB-2F06-6B4A-9AE3-38DCD7022886}">
      <dsp:nvSpPr>
        <dsp:cNvPr id="0" name=""/>
        <dsp:cNvSpPr/>
      </dsp:nvSpPr>
      <dsp:spPr>
        <a:xfrm>
          <a:off x="0" y="812111"/>
          <a:ext cx="7850459" cy="1014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25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itchFamily="2" charset="2"/>
            <a:buChar char="§"/>
          </a:pPr>
          <a:r>
            <a:rPr lang="en-ID" sz="2200" b="0" i="0" u="none" strike="noStrike" kern="1200" dirty="0">
              <a:effectLst/>
            </a:rPr>
            <a:t>To segment customers based on demographic and behavioural patterns in order to develop tailored marketing strategies that enhance engagement and product uptake.</a:t>
          </a:r>
          <a:endParaRPr lang="en-US" sz="2200" kern="1200" dirty="0"/>
        </a:p>
      </dsp:txBody>
      <dsp:txXfrm>
        <a:off x="0" y="812111"/>
        <a:ext cx="7850459" cy="1014300"/>
      </dsp:txXfrm>
    </dsp:sp>
    <dsp:sp modelId="{5825345E-3173-9D48-8A22-4A1A4FCB5B8C}">
      <dsp:nvSpPr>
        <dsp:cNvPr id="0" name=""/>
        <dsp:cNvSpPr/>
      </dsp:nvSpPr>
      <dsp:spPr>
        <a:xfrm>
          <a:off x="0" y="1826411"/>
          <a:ext cx="7850459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800" b="1" i="0" u="none" strike="noStrike" kern="1200" dirty="0">
              <a:effectLst/>
            </a:rPr>
            <a:t>Dataset Used</a:t>
          </a:r>
          <a:endParaRPr lang="en-US" sz="2800" kern="1200" dirty="0"/>
        </a:p>
      </dsp:txBody>
      <dsp:txXfrm>
        <a:off x="32784" y="1859195"/>
        <a:ext cx="7784891" cy="606012"/>
      </dsp:txXfrm>
    </dsp:sp>
    <dsp:sp modelId="{41E097E8-8854-C543-A02C-336C2D6750F0}">
      <dsp:nvSpPr>
        <dsp:cNvPr id="0" name=""/>
        <dsp:cNvSpPr/>
      </dsp:nvSpPr>
      <dsp:spPr>
        <a:xfrm>
          <a:off x="0" y="2497991"/>
          <a:ext cx="7850459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25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itchFamily="2" charset="2"/>
            <a:buChar char="§"/>
          </a:pPr>
          <a:r>
            <a:rPr lang="en-ID" sz="2200" b="0" i="0" u="none" strike="noStrike" kern="1200" dirty="0">
              <a:effectLst/>
            </a:rPr>
            <a:t>Bank Marketing Dataset (UCI Repository) in Kaggle</a:t>
          </a:r>
          <a:endParaRPr lang="en-US" sz="2200" kern="1200" dirty="0"/>
        </a:p>
      </dsp:txBody>
      <dsp:txXfrm>
        <a:off x="0" y="2497991"/>
        <a:ext cx="7850459" cy="463680"/>
      </dsp:txXfrm>
    </dsp:sp>
    <dsp:sp modelId="{01CC04A9-E53A-934F-979D-34C84CA0763D}">
      <dsp:nvSpPr>
        <dsp:cNvPr id="0" name=""/>
        <dsp:cNvSpPr/>
      </dsp:nvSpPr>
      <dsp:spPr>
        <a:xfrm>
          <a:off x="0" y="2961671"/>
          <a:ext cx="7850459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800" b="1" i="0" u="none" strike="noStrike" kern="1200" dirty="0">
              <a:effectLst/>
            </a:rPr>
            <a:t>Segmentation Type</a:t>
          </a:r>
          <a:endParaRPr lang="en-US" sz="2800" kern="1200" dirty="0"/>
        </a:p>
      </dsp:txBody>
      <dsp:txXfrm>
        <a:off x="32784" y="2994455"/>
        <a:ext cx="7784891" cy="606012"/>
      </dsp:txXfrm>
    </dsp:sp>
    <dsp:sp modelId="{A0918803-3788-A140-A3C2-230212BA9B54}">
      <dsp:nvSpPr>
        <dsp:cNvPr id="0" name=""/>
        <dsp:cNvSpPr/>
      </dsp:nvSpPr>
      <dsp:spPr>
        <a:xfrm>
          <a:off x="0" y="3633251"/>
          <a:ext cx="7850459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925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itchFamily="2" charset="2"/>
            <a:buChar char="§"/>
          </a:pPr>
          <a:r>
            <a:rPr lang="en-ID" sz="2200" b="0" i="0" u="none" strike="noStrike" kern="1200" dirty="0">
              <a:effectLst/>
            </a:rPr>
            <a:t>Demographic &amp; Behavioural (Age, Job, Education, Loan Status)</a:t>
          </a:r>
          <a:endParaRPr lang="en-US" sz="2200" kern="1200" dirty="0"/>
        </a:p>
      </dsp:txBody>
      <dsp:txXfrm>
        <a:off x="0" y="3633251"/>
        <a:ext cx="7850459" cy="463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83712-C474-674C-8C9C-AD0521BAF8FC}">
      <dsp:nvSpPr>
        <dsp:cNvPr id="0" name=""/>
        <dsp:cNvSpPr/>
      </dsp:nvSpPr>
      <dsp:spPr>
        <a:xfrm>
          <a:off x="0" y="2746895"/>
          <a:ext cx="10131425" cy="901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i="0" kern="1200" dirty="0"/>
            <a:t>3. Persona Development: </a:t>
          </a:r>
          <a:r>
            <a:rPr lang="en-ID" sz="2100" b="0" i="0" kern="1200" dirty="0"/>
            <a:t>Created customer profiles based on cluster characteristics &amp; Designed strategic marketing recommendations</a:t>
          </a:r>
          <a:endParaRPr lang="en-ID" sz="2100" kern="1200" dirty="0"/>
        </a:p>
      </dsp:txBody>
      <dsp:txXfrm>
        <a:off x="0" y="2746895"/>
        <a:ext cx="10131425" cy="901592"/>
      </dsp:txXfrm>
    </dsp:sp>
    <dsp:sp modelId="{A26A9763-C0BC-464F-884F-77CE8F30D400}">
      <dsp:nvSpPr>
        <dsp:cNvPr id="0" name=""/>
        <dsp:cNvSpPr/>
      </dsp:nvSpPr>
      <dsp:spPr>
        <a:xfrm rot="10800000">
          <a:off x="0" y="1373770"/>
          <a:ext cx="10131425" cy="138664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i="0" kern="1200" dirty="0"/>
            <a:t>2. Clustering: </a:t>
          </a:r>
          <a:r>
            <a:rPr lang="en-ID" sz="2100" b="0" i="0" kern="1200" dirty="0"/>
            <a:t>Applied K-Means clustering &amp; Selected </a:t>
          </a:r>
          <a:r>
            <a:rPr lang="en-ID" sz="2100" b="1" i="0" kern="1200" dirty="0"/>
            <a:t>K=5</a:t>
          </a:r>
          <a:r>
            <a:rPr lang="en-ID" sz="2100" b="0" i="0" kern="1200" dirty="0"/>
            <a:t> based on Elbow Method</a:t>
          </a:r>
          <a:endParaRPr lang="en-ID" sz="2100" kern="1200" dirty="0"/>
        </a:p>
      </dsp:txBody>
      <dsp:txXfrm rot="10800000">
        <a:off x="0" y="1373770"/>
        <a:ext cx="10131425" cy="901003"/>
      </dsp:txXfrm>
    </dsp:sp>
    <dsp:sp modelId="{D71B6FE6-E663-EA4D-A254-0CD8266F68ED}">
      <dsp:nvSpPr>
        <dsp:cNvPr id="0" name=""/>
        <dsp:cNvSpPr/>
      </dsp:nvSpPr>
      <dsp:spPr>
        <a:xfrm rot="10800000">
          <a:off x="0" y="645"/>
          <a:ext cx="10131425" cy="138664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100" b="1" i="0" kern="1200" dirty="0"/>
            <a:t>1. Data Pre-processing: </a:t>
          </a:r>
          <a:r>
            <a:rPr lang="en-ID" sz="2100" b="0" i="0" kern="1200" dirty="0"/>
            <a:t>Cleaned nulls, encoded categorical features &amp; Removed outliers in age and income</a:t>
          </a:r>
          <a:endParaRPr lang="en-ID" sz="2100" kern="1200" dirty="0"/>
        </a:p>
      </dsp:txBody>
      <dsp:txXfrm rot="10800000">
        <a:off x="0" y="645"/>
        <a:ext cx="10131425" cy="9010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6A430-31F1-A848-9669-01CD6D8B619F}">
      <dsp:nvSpPr>
        <dsp:cNvPr id="0" name=""/>
        <dsp:cNvSpPr/>
      </dsp:nvSpPr>
      <dsp:spPr>
        <a:xfrm>
          <a:off x="0" y="398606"/>
          <a:ext cx="5291253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i="0" kern="1200" dirty="0"/>
            <a:t>Profile:</a:t>
          </a:r>
          <a:r>
            <a:rPr lang="en-ID" sz="1700" b="0" i="0" kern="1200" dirty="0"/>
            <a:t> Aged 40+, educated, employed in administrative roles. Stable income and homeownership.</a:t>
          </a:r>
          <a:endParaRPr lang="en-ID" sz="1700" kern="1200" dirty="0"/>
        </a:p>
      </dsp:txBody>
      <dsp:txXfrm>
        <a:off x="33012" y="431618"/>
        <a:ext cx="5225229" cy="610236"/>
      </dsp:txXfrm>
    </dsp:sp>
    <dsp:sp modelId="{ACD41F83-7BB4-5842-A229-6CEB07CBD332}">
      <dsp:nvSpPr>
        <dsp:cNvPr id="0" name=""/>
        <dsp:cNvSpPr/>
      </dsp:nvSpPr>
      <dsp:spPr>
        <a:xfrm>
          <a:off x="0" y="1134977"/>
          <a:ext cx="5291253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i="0" kern="1200"/>
            <a:t>Strategy: </a:t>
          </a:r>
          <a:r>
            <a:rPr lang="en-ID" sz="1700" b="0" i="0" kern="1200"/>
            <a:t>Promote refinance and insurance bundles</a:t>
          </a:r>
          <a:endParaRPr lang="en-ID" sz="1700" kern="1200"/>
        </a:p>
      </dsp:txBody>
      <dsp:txXfrm>
        <a:off x="33012" y="1167989"/>
        <a:ext cx="5225229" cy="610236"/>
      </dsp:txXfrm>
    </dsp:sp>
    <dsp:sp modelId="{79F4EF3C-8802-324A-8A6D-AC1CBF87BD66}">
      <dsp:nvSpPr>
        <dsp:cNvPr id="0" name=""/>
        <dsp:cNvSpPr/>
      </dsp:nvSpPr>
      <dsp:spPr>
        <a:xfrm>
          <a:off x="0" y="1849046"/>
          <a:ext cx="5291253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i="0" kern="1200"/>
            <a:t>Channels</a:t>
          </a:r>
          <a:r>
            <a:rPr lang="en-ID" sz="1700" b="0" i="0" kern="1200"/>
            <a:t>: Email, Mobile App</a:t>
          </a:r>
          <a:endParaRPr lang="en-ID" sz="1700" kern="1200"/>
        </a:p>
      </dsp:txBody>
      <dsp:txXfrm>
        <a:off x="33012" y="1882058"/>
        <a:ext cx="5225229" cy="610236"/>
      </dsp:txXfrm>
    </dsp:sp>
    <dsp:sp modelId="{72605DCF-E9D3-A448-8658-EEE33A61217D}">
      <dsp:nvSpPr>
        <dsp:cNvPr id="0" name=""/>
        <dsp:cNvSpPr/>
      </dsp:nvSpPr>
      <dsp:spPr>
        <a:xfrm>
          <a:off x="0" y="2574266"/>
          <a:ext cx="5291253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700" b="1" i="0" kern="1200" dirty="0"/>
            <a:t>Message</a:t>
          </a:r>
          <a:r>
            <a:rPr lang="en-ID" sz="1700" b="0" i="0" kern="1200" dirty="0"/>
            <a:t>: "Secure your future with flexible options”</a:t>
          </a:r>
          <a:endParaRPr lang="en-ID" sz="1700" kern="1200" dirty="0"/>
        </a:p>
      </dsp:txBody>
      <dsp:txXfrm>
        <a:off x="33012" y="2607278"/>
        <a:ext cx="5225229" cy="6102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709E56-58D5-8A48-ACA2-5F3AD9907440}">
      <dsp:nvSpPr>
        <dsp:cNvPr id="0" name=""/>
        <dsp:cNvSpPr/>
      </dsp:nvSpPr>
      <dsp:spPr>
        <a:xfrm>
          <a:off x="0" y="45416"/>
          <a:ext cx="508786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Profile:</a:t>
          </a:r>
          <a:r>
            <a:rPr lang="en-ID" sz="2000" b="0" i="0" kern="1200" dirty="0"/>
            <a:t> Young, well-educated, early career, new financial responsibilities</a:t>
          </a:r>
          <a:endParaRPr lang="en-ID" sz="2000" kern="1200" dirty="0"/>
        </a:p>
      </dsp:txBody>
      <dsp:txXfrm>
        <a:off x="38838" y="84254"/>
        <a:ext cx="5010192" cy="717924"/>
      </dsp:txXfrm>
    </dsp:sp>
    <dsp:sp modelId="{9A8169B1-947C-5A4F-8104-BB62E5E6FD17}">
      <dsp:nvSpPr>
        <dsp:cNvPr id="0" name=""/>
        <dsp:cNvSpPr/>
      </dsp:nvSpPr>
      <dsp:spPr>
        <a:xfrm>
          <a:off x="0" y="898616"/>
          <a:ext cx="508786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Strategy: </a:t>
          </a:r>
          <a:r>
            <a:rPr lang="en-ID" sz="2000" b="0" i="0" kern="1200" dirty="0"/>
            <a:t>Offer first-time mortgages, credit cards with rewards</a:t>
          </a:r>
          <a:endParaRPr lang="en-ID" sz="2000" kern="1200" dirty="0"/>
        </a:p>
      </dsp:txBody>
      <dsp:txXfrm>
        <a:off x="38838" y="937454"/>
        <a:ext cx="5010192" cy="717924"/>
      </dsp:txXfrm>
    </dsp:sp>
    <dsp:sp modelId="{F47581BA-3CE3-BA4E-8DA0-E473B5BA068D}">
      <dsp:nvSpPr>
        <dsp:cNvPr id="0" name=""/>
        <dsp:cNvSpPr/>
      </dsp:nvSpPr>
      <dsp:spPr>
        <a:xfrm>
          <a:off x="0" y="1751816"/>
          <a:ext cx="508786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Channels</a:t>
          </a:r>
          <a:r>
            <a:rPr lang="en-ID" sz="2000" b="0" i="0" kern="1200" dirty="0"/>
            <a:t>: Social Media, Mobile Banking</a:t>
          </a:r>
          <a:endParaRPr lang="en-ID" sz="2000" kern="1200" dirty="0"/>
        </a:p>
      </dsp:txBody>
      <dsp:txXfrm>
        <a:off x="38838" y="1790654"/>
        <a:ext cx="5010192" cy="717924"/>
      </dsp:txXfrm>
    </dsp:sp>
    <dsp:sp modelId="{DE1D913E-54C6-0943-9BEC-17D6248ABF1A}">
      <dsp:nvSpPr>
        <dsp:cNvPr id="0" name=""/>
        <dsp:cNvSpPr/>
      </dsp:nvSpPr>
      <dsp:spPr>
        <a:xfrm>
          <a:off x="0" y="2605016"/>
          <a:ext cx="508786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Message</a:t>
          </a:r>
          <a:r>
            <a:rPr lang="en-ID" sz="2000" b="0" i="0" kern="1200" dirty="0"/>
            <a:t>: "Smart financial tools for your growing goals"</a:t>
          </a:r>
          <a:endParaRPr lang="en-ID" sz="2000" kern="1200" dirty="0"/>
        </a:p>
      </dsp:txBody>
      <dsp:txXfrm>
        <a:off x="38838" y="2643854"/>
        <a:ext cx="5010192" cy="7179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FF8DB-B0CE-5241-AA49-774D4381CC8F}">
      <dsp:nvSpPr>
        <dsp:cNvPr id="0" name=""/>
        <dsp:cNvSpPr/>
      </dsp:nvSpPr>
      <dsp:spPr>
        <a:xfrm>
          <a:off x="0" y="78579"/>
          <a:ext cx="524094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Profile:</a:t>
          </a:r>
          <a:r>
            <a:rPr lang="en-ID" sz="2000" b="0" i="0" kern="1200" dirty="0"/>
            <a:t> Manual workers, modest education, risk-averse financial habits</a:t>
          </a:r>
          <a:endParaRPr lang="en-ID" sz="2000" kern="1200" dirty="0"/>
        </a:p>
      </dsp:txBody>
      <dsp:txXfrm>
        <a:off x="38838" y="117417"/>
        <a:ext cx="5163266" cy="717924"/>
      </dsp:txXfrm>
    </dsp:sp>
    <dsp:sp modelId="{9298383F-460D-1E49-92B3-FDE9B9A7205E}">
      <dsp:nvSpPr>
        <dsp:cNvPr id="0" name=""/>
        <dsp:cNvSpPr/>
      </dsp:nvSpPr>
      <dsp:spPr>
        <a:xfrm>
          <a:off x="0" y="931779"/>
          <a:ext cx="524094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/>
            <a:t>Strategy:</a:t>
          </a:r>
          <a:r>
            <a:rPr lang="en-ID" sz="2000" kern="1200"/>
            <a:t> </a:t>
          </a:r>
          <a:r>
            <a:rPr lang="en-ID" sz="2000" b="0" i="0" kern="1200"/>
            <a:t>Simplified savings and loan products</a:t>
          </a:r>
          <a:endParaRPr lang="en-ID" sz="2000" kern="1200"/>
        </a:p>
      </dsp:txBody>
      <dsp:txXfrm>
        <a:off x="38838" y="970617"/>
        <a:ext cx="5163266" cy="717924"/>
      </dsp:txXfrm>
    </dsp:sp>
    <dsp:sp modelId="{6326E4D5-DE3F-D54B-BF76-197F73B6E0B4}">
      <dsp:nvSpPr>
        <dsp:cNvPr id="0" name=""/>
        <dsp:cNvSpPr/>
      </dsp:nvSpPr>
      <dsp:spPr>
        <a:xfrm>
          <a:off x="0" y="1784979"/>
          <a:ext cx="524094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Channels</a:t>
          </a:r>
          <a:r>
            <a:rPr lang="en-ID" sz="2000" b="0" i="0" kern="1200" dirty="0"/>
            <a:t>: SMS, Branches</a:t>
          </a:r>
          <a:endParaRPr lang="en-ID" sz="2000" kern="1200" dirty="0"/>
        </a:p>
      </dsp:txBody>
      <dsp:txXfrm>
        <a:off x="38838" y="1823817"/>
        <a:ext cx="5163266" cy="717924"/>
      </dsp:txXfrm>
    </dsp:sp>
    <dsp:sp modelId="{A118EAC9-6C1E-1C4E-8CEE-05DCD3D1994E}">
      <dsp:nvSpPr>
        <dsp:cNvPr id="0" name=""/>
        <dsp:cNvSpPr/>
      </dsp:nvSpPr>
      <dsp:spPr>
        <a:xfrm>
          <a:off x="0" y="2638179"/>
          <a:ext cx="524094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Message</a:t>
          </a:r>
          <a:r>
            <a:rPr lang="en-ID" sz="2000" b="0" i="0" kern="1200" dirty="0"/>
            <a:t>: "Banking that works for you"</a:t>
          </a:r>
          <a:endParaRPr lang="en-ID" sz="2000" kern="1200" dirty="0"/>
        </a:p>
      </dsp:txBody>
      <dsp:txXfrm>
        <a:off x="38838" y="2677017"/>
        <a:ext cx="5163266" cy="7179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735E7-D1E6-5C4D-AFBB-9D7912087A5C}">
      <dsp:nvSpPr>
        <dsp:cNvPr id="0" name=""/>
        <dsp:cNvSpPr/>
      </dsp:nvSpPr>
      <dsp:spPr>
        <a:xfrm>
          <a:off x="0" y="594"/>
          <a:ext cx="506492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Profile:</a:t>
          </a:r>
          <a:r>
            <a:rPr lang="en-ID" sz="2000" b="0" i="0" kern="1200" dirty="0"/>
            <a:t> Managers, highly educated, higher income bracket</a:t>
          </a:r>
          <a:endParaRPr lang="en-ID" sz="2000" kern="1200" dirty="0"/>
        </a:p>
      </dsp:txBody>
      <dsp:txXfrm>
        <a:off x="38838" y="39432"/>
        <a:ext cx="4987251" cy="717924"/>
      </dsp:txXfrm>
    </dsp:sp>
    <dsp:sp modelId="{14C8753C-5866-E24E-8042-983E81AA2D6B}">
      <dsp:nvSpPr>
        <dsp:cNvPr id="0" name=""/>
        <dsp:cNvSpPr/>
      </dsp:nvSpPr>
      <dsp:spPr>
        <a:xfrm>
          <a:off x="0" y="853794"/>
          <a:ext cx="506492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/>
            <a:t>Strategy: </a:t>
          </a:r>
          <a:r>
            <a:rPr lang="en-ID" sz="2000" b="0" i="0" kern="1200"/>
            <a:t>Wealth management services, portfolio products</a:t>
          </a:r>
          <a:endParaRPr lang="en-ID" sz="2000" kern="1200"/>
        </a:p>
      </dsp:txBody>
      <dsp:txXfrm>
        <a:off x="38838" y="892632"/>
        <a:ext cx="4987251" cy="717924"/>
      </dsp:txXfrm>
    </dsp:sp>
    <dsp:sp modelId="{2C8A0853-F547-0441-8DF6-99F3D7A55276}">
      <dsp:nvSpPr>
        <dsp:cNvPr id="0" name=""/>
        <dsp:cNvSpPr/>
      </dsp:nvSpPr>
      <dsp:spPr>
        <a:xfrm>
          <a:off x="0" y="1706994"/>
          <a:ext cx="506492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/>
            <a:t>Channels</a:t>
          </a:r>
          <a:r>
            <a:rPr lang="en-ID" sz="2000" b="0" i="0" kern="1200"/>
            <a:t>: Relationship Managers, App</a:t>
          </a:r>
          <a:endParaRPr lang="en-ID" sz="2000" kern="1200"/>
        </a:p>
      </dsp:txBody>
      <dsp:txXfrm>
        <a:off x="38838" y="1745832"/>
        <a:ext cx="4987251" cy="717924"/>
      </dsp:txXfrm>
    </dsp:sp>
    <dsp:sp modelId="{6C319BBA-81CF-4946-8E6F-3887D8DF847B}">
      <dsp:nvSpPr>
        <dsp:cNvPr id="0" name=""/>
        <dsp:cNvSpPr/>
      </dsp:nvSpPr>
      <dsp:spPr>
        <a:xfrm>
          <a:off x="0" y="2560194"/>
          <a:ext cx="506492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/>
            <a:t>Message</a:t>
          </a:r>
          <a:r>
            <a:rPr lang="en-ID" sz="2000" b="0" i="0" kern="1200"/>
            <a:t>: "Tailored solutions for your lifestyle"</a:t>
          </a:r>
          <a:endParaRPr lang="en-ID" sz="2000" kern="1200"/>
        </a:p>
      </dsp:txBody>
      <dsp:txXfrm>
        <a:off x="38838" y="2599032"/>
        <a:ext cx="4987251" cy="7179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C9A740-BCD6-8744-8483-EFDEF055E9BA}">
      <dsp:nvSpPr>
        <dsp:cNvPr id="0" name=""/>
        <dsp:cNvSpPr/>
      </dsp:nvSpPr>
      <dsp:spPr>
        <a:xfrm>
          <a:off x="0" y="61553"/>
          <a:ext cx="513979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 dirty="0"/>
            <a:t>Profile:</a:t>
          </a:r>
          <a:r>
            <a:rPr lang="en-ID" sz="2000" b="0" i="0" kern="1200" dirty="0"/>
            <a:t> Mixed background, disengaged from financial products</a:t>
          </a:r>
          <a:endParaRPr lang="en-ID" sz="2000" kern="1200" dirty="0"/>
        </a:p>
      </dsp:txBody>
      <dsp:txXfrm>
        <a:off x="38838" y="100391"/>
        <a:ext cx="5062119" cy="717924"/>
      </dsp:txXfrm>
    </dsp:sp>
    <dsp:sp modelId="{1E54F97E-165A-6C42-B43B-70538EAFEA6E}">
      <dsp:nvSpPr>
        <dsp:cNvPr id="0" name=""/>
        <dsp:cNvSpPr/>
      </dsp:nvSpPr>
      <dsp:spPr>
        <a:xfrm>
          <a:off x="0" y="914753"/>
          <a:ext cx="513979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/>
            <a:t>Strategy:</a:t>
          </a:r>
          <a:r>
            <a:rPr lang="en-ID" sz="2000" kern="1200"/>
            <a:t> </a:t>
          </a:r>
          <a:r>
            <a:rPr lang="en-ID" sz="2000" b="0" i="0" kern="1200"/>
            <a:t>Financial literacy programs, no-fee accounts</a:t>
          </a:r>
          <a:endParaRPr lang="en-ID" sz="2000" kern="1200"/>
        </a:p>
      </dsp:txBody>
      <dsp:txXfrm>
        <a:off x="38838" y="953591"/>
        <a:ext cx="5062119" cy="717924"/>
      </dsp:txXfrm>
    </dsp:sp>
    <dsp:sp modelId="{9586AB96-D4D3-874E-8CCE-E9E521E96EFC}">
      <dsp:nvSpPr>
        <dsp:cNvPr id="0" name=""/>
        <dsp:cNvSpPr/>
      </dsp:nvSpPr>
      <dsp:spPr>
        <a:xfrm>
          <a:off x="0" y="1767953"/>
          <a:ext cx="513979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/>
            <a:t>Channels</a:t>
          </a:r>
          <a:r>
            <a:rPr lang="en-ID" sz="2000" b="0" i="0" kern="1200"/>
            <a:t>: Community Outreach</a:t>
          </a:r>
          <a:endParaRPr lang="en-ID" sz="2000" kern="1200"/>
        </a:p>
      </dsp:txBody>
      <dsp:txXfrm>
        <a:off x="38838" y="1806791"/>
        <a:ext cx="5062119" cy="717924"/>
      </dsp:txXfrm>
    </dsp:sp>
    <dsp:sp modelId="{A741DC12-F42C-BB4C-BC9F-0A1657CC26D0}">
      <dsp:nvSpPr>
        <dsp:cNvPr id="0" name=""/>
        <dsp:cNvSpPr/>
      </dsp:nvSpPr>
      <dsp:spPr>
        <a:xfrm>
          <a:off x="0" y="2621153"/>
          <a:ext cx="513979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000" b="1" i="0" kern="1200"/>
            <a:t>Message</a:t>
          </a:r>
          <a:r>
            <a:rPr lang="en-ID" sz="2000" b="0" i="0" kern="1200"/>
            <a:t>: "Start with one small step"</a:t>
          </a:r>
          <a:endParaRPr lang="en-ID" sz="2000" kern="1200"/>
        </a:p>
      </dsp:txBody>
      <dsp:txXfrm>
        <a:off x="38838" y="2659991"/>
        <a:ext cx="5062119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53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4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9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94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6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3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5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1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5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8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97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1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20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66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89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0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AB3842-447B-D648-84EA-5F7F08CEAB16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D7C785-76C6-0041-BE74-70807486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586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diagramData" Target="../diagrams/data3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image" Target="../media/image18.svg"/><Relationship Id="rId5" Type="http://schemas.openxmlformats.org/officeDocument/2006/relationships/diagramColors" Target="../diagrams/colors3.xml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24.png"/><Relationship Id="rId12" Type="http://schemas.openxmlformats.org/officeDocument/2006/relationships/image" Target="../media/image19.png"/><Relationship Id="rId2" Type="http://schemas.openxmlformats.org/officeDocument/2006/relationships/diagramData" Target="../diagrams/data4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image" Target="../media/image18.svg"/><Relationship Id="rId5" Type="http://schemas.openxmlformats.org/officeDocument/2006/relationships/diagramColors" Target="../diagrams/colors4.xml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9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26.png"/><Relationship Id="rId12" Type="http://schemas.openxmlformats.org/officeDocument/2006/relationships/image" Target="../media/image18.svg"/><Relationship Id="rId2" Type="http://schemas.openxmlformats.org/officeDocument/2006/relationships/diagramData" Target="../diagrams/data5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image" Target="../media/image17.png"/><Relationship Id="rId5" Type="http://schemas.openxmlformats.org/officeDocument/2006/relationships/diagramColors" Target="../diagrams/colors5.xml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9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28.png"/><Relationship Id="rId12" Type="http://schemas.openxmlformats.org/officeDocument/2006/relationships/image" Target="../media/image18.svg"/><Relationship Id="rId2" Type="http://schemas.openxmlformats.org/officeDocument/2006/relationships/diagramData" Target="../diagrams/data6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openxmlformats.org/officeDocument/2006/relationships/image" Target="../media/image17.png"/><Relationship Id="rId5" Type="http://schemas.openxmlformats.org/officeDocument/2006/relationships/diagramColors" Target="../diagrams/colors6.xml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8.svg"/><Relationship Id="rId3" Type="http://schemas.openxmlformats.org/officeDocument/2006/relationships/diagramLayout" Target="../diagrams/layout7.xml"/><Relationship Id="rId7" Type="http://schemas.openxmlformats.org/officeDocument/2006/relationships/image" Target="../media/image10.pn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diagramData" Target="../diagrams/data7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openxmlformats.org/officeDocument/2006/relationships/image" Target="../media/image16.svg"/><Relationship Id="rId5" Type="http://schemas.openxmlformats.org/officeDocument/2006/relationships/diagramColors" Target="../diagrams/colors7.xml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30.png"/><Relationship Id="rId1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C76F6-C528-894D-A679-C2847EABF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Customer segmentation &amp; personas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D1CCE-B51B-D84C-87A3-08F78E7B1F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</a:t>
            </a:r>
            <a:r>
              <a:rPr lang="en-US" dirty="0" err="1"/>
              <a:t>melgwyn</a:t>
            </a:r>
            <a:r>
              <a:rPr lang="en-US" dirty="0"/>
              <a:t> </a:t>
            </a:r>
            <a:r>
              <a:rPr lang="en-US" dirty="0" err="1"/>
              <a:t>wullur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6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objective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CAFA527-96F5-9343-B29D-EB62CFB175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4621004"/>
              </p:ext>
            </p:extLst>
          </p:nvPr>
        </p:nvGraphicFramePr>
        <p:xfrm>
          <a:off x="858643" y="1817648"/>
          <a:ext cx="7850459" cy="4237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616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38C7-1DEA-564E-A8B2-5960C27D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037E-C83E-614D-8261-1CDF37DBD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1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7CC760-B2A0-4841-BA00-4F5D774C1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7390827"/>
              </p:ext>
            </p:extLst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670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 number results COMPARISON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E537E-78AA-3C43-8F98-D26092AAC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74076"/>
            <a:ext cx="10131425" cy="3649133"/>
          </a:xfrm>
        </p:spPr>
        <p:txBody>
          <a:bodyPr anchor="t"/>
          <a:lstStyle/>
          <a:p>
            <a:pPr marL="0" indent="0" algn="l">
              <a:buNone/>
            </a:pPr>
            <a:r>
              <a:rPr lang="en-ID" b="1" i="0" u="none" strike="noStrike" dirty="0">
                <a:effectLst/>
              </a:rPr>
              <a:t>After testing k-means using the Silhouette score and Davies-Bouldin Index, statistically K=2 is the best solution but after testing, K=2 only produces broad clusters while K = 5 provides more granular segmentation and rich personas for marketing action</a:t>
            </a:r>
            <a:br>
              <a:rPr lang="en-ID" b="1" i="0" u="none" strike="noStrike" dirty="0">
                <a:effectLst/>
              </a:rPr>
            </a:br>
            <a:br>
              <a:rPr lang="en-ID" b="1" i="0" u="none" strike="noStrike" dirty="0">
                <a:effectLst/>
              </a:rPr>
            </a:br>
            <a:endParaRPr lang="en-ID" b="0" i="0" u="none" strike="noStrike" dirty="0"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FDF871-36F5-DC49-86A3-DBD5B9708C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3617023"/>
              </p:ext>
            </p:extLst>
          </p:nvPr>
        </p:nvGraphicFramePr>
        <p:xfrm>
          <a:off x="1419261" y="2856677"/>
          <a:ext cx="8906765" cy="3277098"/>
        </p:xfrm>
        <a:graphic>
          <a:graphicData uri="http://schemas.openxmlformats.org/drawingml/2006/table">
            <a:tbl>
              <a:tblPr/>
              <a:tblGrid>
                <a:gridCol w="1781353">
                  <a:extLst>
                    <a:ext uri="{9D8B030D-6E8A-4147-A177-3AD203B41FA5}">
                      <a16:colId xmlns:a16="http://schemas.microsoft.com/office/drawing/2014/main" val="3993030945"/>
                    </a:ext>
                  </a:extLst>
                </a:gridCol>
                <a:gridCol w="1781353">
                  <a:extLst>
                    <a:ext uri="{9D8B030D-6E8A-4147-A177-3AD203B41FA5}">
                      <a16:colId xmlns:a16="http://schemas.microsoft.com/office/drawing/2014/main" val="1127903604"/>
                    </a:ext>
                  </a:extLst>
                </a:gridCol>
                <a:gridCol w="1781353">
                  <a:extLst>
                    <a:ext uri="{9D8B030D-6E8A-4147-A177-3AD203B41FA5}">
                      <a16:colId xmlns:a16="http://schemas.microsoft.com/office/drawing/2014/main" val="316863005"/>
                    </a:ext>
                  </a:extLst>
                </a:gridCol>
                <a:gridCol w="1781353">
                  <a:extLst>
                    <a:ext uri="{9D8B030D-6E8A-4147-A177-3AD203B41FA5}">
                      <a16:colId xmlns:a16="http://schemas.microsoft.com/office/drawing/2014/main" val="290893634"/>
                    </a:ext>
                  </a:extLst>
                </a:gridCol>
                <a:gridCol w="1781353">
                  <a:extLst>
                    <a:ext uri="{9D8B030D-6E8A-4147-A177-3AD203B41FA5}">
                      <a16:colId xmlns:a16="http://schemas.microsoft.com/office/drawing/2014/main" val="3844915069"/>
                    </a:ext>
                  </a:extLst>
                </a:gridCol>
              </a:tblGrid>
              <a:tr h="554596">
                <a:tc>
                  <a:txBody>
                    <a:bodyPr/>
                    <a:lstStyle/>
                    <a:p>
                      <a:r>
                        <a:rPr lang="en-ID" sz="1400" b="1" dirty="0"/>
                        <a:t>Cluster Numbers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Statistical Fit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Cluster Quality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Example Personas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Business Impact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001290"/>
                  </a:ext>
                </a:extLst>
              </a:tr>
              <a:tr h="792070">
                <a:tc>
                  <a:txBody>
                    <a:bodyPr/>
                    <a:lstStyle/>
                    <a:p>
                      <a:pPr algn="ctr"/>
                      <a:r>
                        <a:rPr lang="en-ID" sz="1800" dirty="0"/>
                        <a:t>2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Best (Silhouette = 0.60, DB = 0.56)</a:t>
                      </a:r>
                      <a:endParaRPr lang="en-ID" sz="1000" dirty="0"/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Very stable but broad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/>
                        <a:t>Group A: Younger, admins, </a:t>
                      </a:r>
                      <a:r>
                        <a:rPr lang="en-ID" sz="1000" dirty="0" err="1"/>
                        <a:t>uni</a:t>
                      </a:r>
                      <a:r>
                        <a:rPr lang="en-ID" sz="1000" dirty="0"/>
                        <a:t> degree, loans active </a:t>
                      </a:r>
                      <a:br>
                        <a:rPr lang="en-ID" sz="1000" dirty="0"/>
                      </a:br>
                      <a:r>
                        <a:rPr lang="en-ID" sz="1000" dirty="0"/>
                        <a:t>Group B: Older, blue-collar, basic education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Overgeneralized clusters causes difficulty in targeting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644747"/>
                  </a:ext>
                </a:extLst>
              </a:tr>
              <a:tr h="792070">
                <a:tc>
                  <a:txBody>
                    <a:bodyPr/>
                    <a:lstStyle/>
                    <a:p>
                      <a:pPr algn="ctr"/>
                      <a:r>
                        <a:rPr lang="en-ID" sz="1800" dirty="0"/>
                        <a:t>4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dirty="0"/>
                        <a:t>Balanced (</a:t>
                      </a:r>
                      <a:r>
                        <a:rPr kumimoji="0" lang="en-ID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Silhouette = 0.47, DB = 0.60)</a:t>
                      </a:r>
                      <a:endParaRPr lang="en-ID" sz="1000" dirty="0"/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Moderate separation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/>
                        <a:t>1. Younger admins, </a:t>
                      </a:r>
                      <a:r>
                        <a:rPr lang="en-ID" sz="1000" dirty="0" err="1"/>
                        <a:t>uni</a:t>
                      </a:r>
                      <a:r>
                        <a:rPr lang="en-ID" sz="1000" dirty="0"/>
                        <a:t> degree </a:t>
                      </a:r>
                      <a:br>
                        <a:rPr lang="en-ID" sz="1000" dirty="0"/>
                      </a:br>
                      <a:r>
                        <a:rPr lang="en-ID" sz="1000" dirty="0"/>
                        <a:t>2. Older admins, </a:t>
                      </a:r>
                      <a:r>
                        <a:rPr lang="en-ID" sz="1000" dirty="0" err="1"/>
                        <a:t>uni</a:t>
                      </a:r>
                      <a:r>
                        <a:rPr lang="en-ID" sz="1000" dirty="0"/>
                        <a:t> degree </a:t>
                      </a:r>
                      <a:br>
                        <a:rPr lang="en-ID" sz="1000" dirty="0"/>
                      </a:br>
                      <a:r>
                        <a:rPr lang="en-ID" sz="1000" dirty="0"/>
                        <a:t>3. Blue-collar, basic ed. </a:t>
                      </a:r>
                      <a:br>
                        <a:rPr lang="en-ID" sz="1000" dirty="0"/>
                      </a:br>
                      <a:r>
                        <a:rPr lang="en-ID" sz="1000" dirty="0"/>
                        <a:t>4. Management, </a:t>
                      </a:r>
                      <a:r>
                        <a:rPr lang="en-ID" sz="1000" dirty="0" err="1"/>
                        <a:t>uni</a:t>
                      </a:r>
                      <a:r>
                        <a:rPr lang="en-ID" sz="1000" dirty="0"/>
                        <a:t> degree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More specific but misses niche details like no loans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827889"/>
                  </a:ext>
                </a:extLst>
              </a:tr>
              <a:tr h="792070">
                <a:tc>
                  <a:txBody>
                    <a:bodyPr/>
                    <a:lstStyle/>
                    <a:p>
                      <a:pPr algn="ctr"/>
                      <a:r>
                        <a:rPr lang="en-ID" sz="1800" dirty="0"/>
                        <a:t>5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Weaker (Silhouette = 0.47, DB = 0.60)</a:t>
                      </a:r>
                      <a:endParaRPr lang="en-ID" sz="1000" dirty="0"/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Specific separation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000" dirty="0"/>
                        <a:t>1. Mid-age admins, </a:t>
                      </a:r>
                      <a:r>
                        <a:rPr lang="en-ID" sz="1000" dirty="0" err="1"/>
                        <a:t>uni</a:t>
                      </a:r>
                      <a:r>
                        <a:rPr lang="en-ID" sz="1000" dirty="0"/>
                        <a:t> degree </a:t>
                      </a:r>
                      <a:br>
                        <a:rPr lang="en-ID" sz="1000" dirty="0"/>
                      </a:br>
                      <a:r>
                        <a:rPr lang="en-ID" sz="1000" dirty="0"/>
                        <a:t>2. Younger admins, early career </a:t>
                      </a:r>
                      <a:br>
                        <a:rPr lang="en-ID" sz="1000" dirty="0"/>
                      </a:br>
                      <a:r>
                        <a:rPr lang="en-ID" sz="1000" dirty="0"/>
                        <a:t>3. Blue-collar, basic ed. </a:t>
                      </a:r>
                      <a:br>
                        <a:rPr lang="en-ID" sz="1000" dirty="0"/>
                      </a:br>
                      <a:r>
                        <a:rPr lang="en-ID" sz="1000" dirty="0"/>
                        <a:t>4. Management, high ed. </a:t>
                      </a:r>
                      <a:br>
                        <a:rPr lang="en-ID" sz="1000" dirty="0"/>
                      </a:br>
                      <a:r>
                        <a:rPr lang="en-ID" sz="1000" dirty="0"/>
                        <a:t>5. Blue-collar, no loans (low engagement)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Slightly weaker metrics but best personas for strategy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323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59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38C7-1DEA-564E-A8B2-5960C27D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037E-C83E-614D-8261-1CDF37DBD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3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8034470-BDCB-F640-94D8-15F45C18164F}"/>
              </a:ext>
            </a:extLst>
          </p:cNvPr>
          <p:cNvSpPr/>
          <p:nvPr/>
        </p:nvSpPr>
        <p:spPr>
          <a:xfrm>
            <a:off x="1787027" y="3355891"/>
            <a:ext cx="999204" cy="75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6017CD-9DFC-7E4A-8362-B4244AB5848C}"/>
              </a:ext>
            </a:extLst>
          </p:cNvPr>
          <p:cNvSpPr/>
          <p:nvPr/>
        </p:nvSpPr>
        <p:spPr>
          <a:xfrm>
            <a:off x="1787027" y="4111009"/>
            <a:ext cx="999204" cy="6537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C02B4-04E7-FC49-BAC7-C8BA4C16D900}"/>
              </a:ext>
            </a:extLst>
          </p:cNvPr>
          <p:cNvSpPr/>
          <p:nvPr/>
        </p:nvSpPr>
        <p:spPr>
          <a:xfrm>
            <a:off x="1787027" y="5415853"/>
            <a:ext cx="999204" cy="6452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8A4279-FA76-C94C-A952-ED5AC68712BA}"/>
              </a:ext>
            </a:extLst>
          </p:cNvPr>
          <p:cNvSpPr/>
          <p:nvPr/>
        </p:nvSpPr>
        <p:spPr>
          <a:xfrm>
            <a:off x="1787027" y="4707757"/>
            <a:ext cx="999204" cy="70809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1D9BC9-4190-BB43-A65C-76D9BC7384BD}"/>
              </a:ext>
            </a:extLst>
          </p:cNvPr>
          <p:cNvSpPr/>
          <p:nvPr/>
        </p:nvSpPr>
        <p:spPr>
          <a:xfrm>
            <a:off x="1787027" y="2673882"/>
            <a:ext cx="999204" cy="7118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68E41A-38F6-2B47-95B5-20A2A45D72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0306737"/>
              </p:ext>
            </p:extLst>
          </p:nvPr>
        </p:nvGraphicFramePr>
        <p:xfrm>
          <a:off x="1787027" y="2172943"/>
          <a:ext cx="7928968" cy="3888198"/>
        </p:xfrm>
        <a:graphic>
          <a:graphicData uri="http://schemas.openxmlformats.org/drawingml/2006/table">
            <a:tbl>
              <a:tblPr/>
              <a:tblGrid>
                <a:gridCol w="991121">
                  <a:extLst>
                    <a:ext uri="{9D8B030D-6E8A-4147-A177-3AD203B41FA5}">
                      <a16:colId xmlns:a16="http://schemas.microsoft.com/office/drawing/2014/main" val="3993030945"/>
                    </a:ext>
                  </a:extLst>
                </a:gridCol>
                <a:gridCol w="991121">
                  <a:extLst>
                    <a:ext uri="{9D8B030D-6E8A-4147-A177-3AD203B41FA5}">
                      <a16:colId xmlns:a16="http://schemas.microsoft.com/office/drawing/2014/main" val="1127903604"/>
                    </a:ext>
                  </a:extLst>
                </a:gridCol>
                <a:gridCol w="991121">
                  <a:extLst>
                    <a:ext uri="{9D8B030D-6E8A-4147-A177-3AD203B41FA5}">
                      <a16:colId xmlns:a16="http://schemas.microsoft.com/office/drawing/2014/main" val="316863005"/>
                    </a:ext>
                  </a:extLst>
                </a:gridCol>
                <a:gridCol w="991121">
                  <a:extLst>
                    <a:ext uri="{9D8B030D-6E8A-4147-A177-3AD203B41FA5}">
                      <a16:colId xmlns:a16="http://schemas.microsoft.com/office/drawing/2014/main" val="290893634"/>
                    </a:ext>
                  </a:extLst>
                </a:gridCol>
                <a:gridCol w="991121">
                  <a:extLst>
                    <a:ext uri="{9D8B030D-6E8A-4147-A177-3AD203B41FA5}">
                      <a16:colId xmlns:a16="http://schemas.microsoft.com/office/drawing/2014/main" val="3844915069"/>
                    </a:ext>
                  </a:extLst>
                </a:gridCol>
                <a:gridCol w="991121">
                  <a:extLst>
                    <a:ext uri="{9D8B030D-6E8A-4147-A177-3AD203B41FA5}">
                      <a16:colId xmlns:a16="http://schemas.microsoft.com/office/drawing/2014/main" val="1786773274"/>
                    </a:ext>
                  </a:extLst>
                </a:gridCol>
                <a:gridCol w="1098275">
                  <a:extLst>
                    <a:ext uri="{9D8B030D-6E8A-4147-A177-3AD203B41FA5}">
                      <a16:colId xmlns:a16="http://schemas.microsoft.com/office/drawing/2014/main" val="3111509071"/>
                    </a:ext>
                  </a:extLst>
                </a:gridCol>
                <a:gridCol w="883967">
                  <a:extLst>
                    <a:ext uri="{9D8B030D-6E8A-4147-A177-3AD203B41FA5}">
                      <a16:colId xmlns:a16="http://schemas.microsoft.com/office/drawing/2014/main" val="1908486245"/>
                    </a:ext>
                  </a:extLst>
                </a:gridCol>
              </a:tblGrid>
              <a:tr h="500934">
                <a:tc>
                  <a:txBody>
                    <a:bodyPr/>
                    <a:lstStyle/>
                    <a:p>
                      <a:r>
                        <a:rPr lang="en-ID" sz="1400" b="1" dirty="0"/>
                        <a:t>Cluster Name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Cluster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Size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 err="1"/>
                        <a:t>Avg</a:t>
                      </a:r>
                      <a:r>
                        <a:rPr lang="en-ID" sz="1400" b="1" dirty="0"/>
                        <a:t> Age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Housing Loan 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Personal Loan 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Top Job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b="1" dirty="0"/>
                        <a:t>Top Education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001290"/>
                  </a:ext>
                </a:extLst>
              </a:tr>
              <a:tr h="715620"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Mid-life Professionals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0</a:t>
                      </a:r>
                      <a:endParaRPr lang="en-ID" sz="1000" dirty="0"/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18,910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43.3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53.8%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15.5%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Admin (33.2%)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University Degree (30.5%)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644747"/>
                  </a:ext>
                </a:extLst>
              </a:tr>
              <a:tr h="715620"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Young Professionals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1</a:t>
                      </a:r>
                      <a:endParaRPr lang="en-ID" sz="1000" dirty="0"/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10,628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32.7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55.1%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16.1%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Admin (36.7%)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University Degree (38.2%)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827889"/>
                  </a:ext>
                </a:extLst>
              </a:tr>
              <a:tr h="500934"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Working Class Traditionalist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2 </a:t>
                      </a:r>
                      <a:endParaRPr lang="en-ID" sz="1000" dirty="0"/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7,807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41.3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51.8%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15.0%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Blue-collar (96.6%)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Basic (80.7%)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323356"/>
                  </a:ext>
                </a:extLst>
              </a:tr>
              <a:tr h="715620"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Affluent Executives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3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2,853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42.4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52.2%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15.4%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Management (100%)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University Degree (70.5%)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976902"/>
                  </a:ext>
                </a:extLst>
              </a:tr>
              <a:tr h="500934">
                <a:tc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Financially unengaged outliers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400" dirty="0"/>
                        <a:t> 4</a:t>
                      </a:r>
                      <a:endParaRPr lang="en-ID" sz="1000" dirty="0"/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990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40.0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0.0%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0.0%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Blue-collar (24.2%)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/>
                        <a:t>Basic (33.1%)</a:t>
                      </a:r>
                    </a:p>
                  </a:txBody>
                  <a:tcPr marL="71562" marR="71562" marT="35781" marB="357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095055"/>
                  </a:ext>
                </a:extLst>
              </a:tr>
            </a:tbl>
          </a:graphicData>
        </a:graphic>
      </p:graphicFrame>
      <p:pic>
        <p:nvPicPr>
          <p:cNvPr id="7" name="Graphic 6" descr="Office worker">
            <a:extLst>
              <a:ext uri="{FF2B5EF4-FFF2-40B4-BE49-F238E27FC236}">
                <a16:creationId xmlns:a16="http://schemas.microsoft.com/office/drawing/2014/main" id="{BA0BBCE5-38EA-8448-BB20-64E03E495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8058" y="4783360"/>
            <a:ext cx="569686" cy="569686"/>
          </a:xfrm>
          <a:prstGeom prst="rect">
            <a:avLst/>
          </a:prstGeom>
        </p:spPr>
      </p:pic>
      <p:pic>
        <p:nvPicPr>
          <p:cNvPr id="13" name="Graphic 12" descr="Construction worker">
            <a:extLst>
              <a:ext uri="{FF2B5EF4-FFF2-40B4-BE49-F238E27FC236}">
                <a16:creationId xmlns:a16="http://schemas.microsoft.com/office/drawing/2014/main" id="{3F54E342-1E09-6A4A-A723-67CAFA586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8057" y="4088050"/>
            <a:ext cx="569687" cy="569687"/>
          </a:xfrm>
          <a:prstGeom prst="rect">
            <a:avLst/>
          </a:prstGeom>
        </p:spPr>
      </p:pic>
      <p:pic>
        <p:nvPicPr>
          <p:cNvPr id="15" name="Graphic 14" descr="Programmer">
            <a:extLst>
              <a:ext uri="{FF2B5EF4-FFF2-40B4-BE49-F238E27FC236}">
                <a16:creationId xmlns:a16="http://schemas.microsoft.com/office/drawing/2014/main" id="{989AF160-7C3B-0049-853D-92348BADD2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8057" y="3450623"/>
            <a:ext cx="569687" cy="569687"/>
          </a:xfrm>
          <a:prstGeom prst="rect">
            <a:avLst/>
          </a:prstGeom>
        </p:spPr>
      </p:pic>
      <p:pic>
        <p:nvPicPr>
          <p:cNvPr id="17" name="Graphic 16" descr="Users">
            <a:extLst>
              <a:ext uri="{FF2B5EF4-FFF2-40B4-BE49-F238E27FC236}">
                <a16:creationId xmlns:a16="http://schemas.microsoft.com/office/drawing/2014/main" id="{980F42AB-FB4C-894A-9635-CF56A1C948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98056" y="5541479"/>
            <a:ext cx="569688" cy="569688"/>
          </a:xfrm>
          <a:prstGeom prst="rect">
            <a:avLst/>
          </a:prstGeom>
        </p:spPr>
      </p:pic>
      <p:pic>
        <p:nvPicPr>
          <p:cNvPr id="19" name="Graphic 18" descr="Professor">
            <a:extLst>
              <a:ext uri="{FF2B5EF4-FFF2-40B4-BE49-F238E27FC236}">
                <a16:creationId xmlns:a16="http://schemas.microsoft.com/office/drawing/2014/main" id="{4DCF1A4B-7F00-494C-8E31-72697B2C79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98056" y="2692502"/>
            <a:ext cx="569688" cy="56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13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9C52639-FF54-C741-B247-222BB7B5EB5A}"/>
              </a:ext>
            </a:extLst>
          </p:cNvPr>
          <p:cNvSpPr/>
          <p:nvPr/>
        </p:nvSpPr>
        <p:spPr>
          <a:xfrm>
            <a:off x="577897" y="860612"/>
            <a:ext cx="7468825" cy="84985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31543"/>
            <a:ext cx="10131425" cy="1456267"/>
          </a:xfrm>
        </p:spPr>
        <p:txBody>
          <a:bodyPr/>
          <a:lstStyle/>
          <a:p>
            <a:r>
              <a:rPr lang="en-US" b="1" i="1" dirty="0"/>
              <a:t>Cluster 0 (mid-life professionals)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61B50D22-13CC-9241-BD78-07F977D9F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673493"/>
              </p:ext>
            </p:extLst>
          </p:nvPr>
        </p:nvGraphicFramePr>
        <p:xfrm>
          <a:off x="1530828" y="2665701"/>
          <a:ext cx="5291253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F6AB401-57D9-9640-8027-2113E77598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573" y="2072988"/>
            <a:ext cx="3596163" cy="472134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4DFD6B-9482-004D-9ED5-B699EE3C5498}"/>
              </a:ext>
            </a:extLst>
          </p:cNvPr>
          <p:cNvSpPr/>
          <p:nvPr/>
        </p:nvSpPr>
        <p:spPr>
          <a:xfrm>
            <a:off x="735976" y="3021981"/>
            <a:ext cx="783699" cy="28881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 descr="Envelope">
            <a:extLst>
              <a:ext uri="{FF2B5EF4-FFF2-40B4-BE49-F238E27FC236}">
                <a16:creationId xmlns:a16="http://schemas.microsoft.com/office/drawing/2014/main" id="{B68298AD-16F6-A94D-9F2B-DA36F975E9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375" y="4554938"/>
            <a:ext cx="556329" cy="556329"/>
          </a:xfrm>
          <a:prstGeom prst="rect">
            <a:avLst/>
          </a:prstGeom>
        </p:spPr>
      </p:pic>
      <p:pic>
        <p:nvPicPr>
          <p:cNvPr id="8" name="Graphic 7" descr="Target">
            <a:extLst>
              <a:ext uri="{FF2B5EF4-FFF2-40B4-BE49-F238E27FC236}">
                <a16:creationId xmlns:a16="http://schemas.microsoft.com/office/drawing/2014/main" id="{D55364C6-36A2-A84A-B027-AC247869B9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5766" y="3783118"/>
            <a:ext cx="684118" cy="684118"/>
          </a:xfrm>
          <a:prstGeom prst="rect">
            <a:avLst/>
          </a:prstGeom>
        </p:spPr>
      </p:pic>
      <p:pic>
        <p:nvPicPr>
          <p:cNvPr id="10" name="Graphic 9" descr="User">
            <a:extLst>
              <a:ext uri="{FF2B5EF4-FFF2-40B4-BE49-F238E27FC236}">
                <a16:creationId xmlns:a16="http://schemas.microsoft.com/office/drawing/2014/main" id="{B6078E1D-B4D0-AE43-8E29-3C59FAAEF9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1072" y="3047099"/>
            <a:ext cx="684118" cy="684118"/>
          </a:xfrm>
          <a:prstGeom prst="rect">
            <a:avLst/>
          </a:prstGeom>
        </p:spPr>
      </p:pic>
      <p:pic>
        <p:nvPicPr>
          <p:cNvPr id="12" name="Graphic 11" descr="Speech">
            <a:extLst>
              <a:ext uri="{FF2B5EF4-FFF2-40B4-BE49-F238E27FC236}">
                <a16:creationId xmlns:a16="http://schemas.microsoft.com/office/drawing/2014/main" id="{1EA61346-6C53-BA42-808B-93794B61387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7827" y="5211287"/>
            <a:ext cx="609496" cy="60949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384F7F8-8B17-384B-B3AE-C2BD73FEC132}"/>
              </a:ext>
            </a:extLst>
          </p:cNvPr>
          <p:cNvCxnSpPr>
            <a:cxnSpLocks/>
          </p:cNvCxnSpPr>
          <p:nvPr/>
        </p:nvCxnSpPr>
        <p:spPr>
          <a:xfrm>
            <a:off x="735976" y="3741230"/>
            <a:ext cx="7682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6D01D5-D478-A541-AD75-7A355F61AA83}"/>
              </a:ext>
            </a:extLst>
          </p:cNvPr>
          <p:cNvCxnSpPr>
            <a:cxnSpLocks/>
          </p:cNvCxnSpPr>
          <p:nvPr/>
        </p:nvCxnSpPr>
        <p:spPr>
          <a:xfrm>
            <a:off x="735976" y="4466064"/>
            <a:ext cx="7682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B91C22-00AE-C149-A37D-2F32E06E28CD}"/>
              </a:ext>
            </a:extLst>
          </p:cNvPr>
          <p:cNvCxnSpPr>
            <a:cxnSpLocks/>
          </p:cNvCxnSpPr>
          <p:nvPr/>
        </p:nvCxnSpPr>
        <p:spPr>
          <a:xfrm>
            <a:off x="766586" y="5202084"/>
            <a:ext cx="7682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99B2FEC-C354-5046-911B-93B4D66E38D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84453" y="242281"/>
            <a:ext cx="1586181" cy="1586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22856E2-9441-4945-B534-FB310A58A374}"/>
              </a:ext>
            </a:extLst>
          </p:cNvPr>
          <p:cNvSpPr txBox="1"/>
          <p:nvPr/>
        </p:nvSpPr>
        <p:spPr>
          <a:xfrm>
            <a:off x="585048" y="1779765"/>
            <a:ext cx="6211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 18,910 cluster consists of mostly high school and above education with an average age of 43 and mostly have housing loans (54%) while some have personal loans (15%) who work as an admin or electrician</a:t>
            </a:r>
          </a:p>
        </p:txBody>
      </p:sp>
    </p:spTree>
    <p:extLst>
      <p:ext uri="{BB962C8B-B14F-4D97-AF65-F5344CB8AC3E}">
        <p14:creationId xmlns:p14="http://schemas.microsoft.com/office/powerpoint/2010/main" val="356091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8C8B6AE-6F3F-2741-A30F-F3EEAE944B2C}"/>
              </a:ext>
            </a:extLst>
          </p:cNvPr>
          <p:cNvSpPr/>
          <p:nvPr/>
        </p:nvSpPr>
        <p:spPr>
          <a:xfrm>
            <a:off x="524107" y="989914"/>
            <a:ext cx="7221399" cy="72055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54D370-67C9-224B-A5A6-212148380D0C}"/>
              </a:ext>
            </a:extLst>
          </p:cNvPr>
          <p:cNvSpPr/>
          <p:nvPr/>
        </p:nvSpPr>
        <p:spPr>
          <a:xfrm>
            <a:off x="545201" y="3023412"/>
            <a:ext cx="930274" cy="335638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CAC6DA-848A-3B4E-A7DE-0EC2FAE89A34}"/>
              </a:ext>
            </a:extLst>
          </p:cNvPr>
          <p:cNvCxnSpPr>
            <a:cxnSpLocks/>
          </p:cNvCxnSpPr>
          <p:nvPr/>
        </p:nvCxnSpPr>
        <p:spPr>
          <a:xfrm>
            <a:off x="547209" y="3875033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31835C-84D1-3046-893C-D09EFFDB7622}"/>
              </a:ext>
            </a:extLst>
          </p:cNvPr>
          <p:cNvCxnSpPr>
            <a:cxnSpLocks/>
          </p:cNvCxnSpPr>
          <p:nvPr/>
        </p:nvCxnSpPr>
        <p:spPr>
          <a:xfrm>
            <a:off x="547209" y="4599867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B4797F-8A04-9A4F-B66F-4591EF8D988F}"/>
              </a:ext>
            </a:extLst>
          </p:cNvPr>
          <p:cNvCxnSpPr>
            <a:cxnSpLocks/>
          </p:cNvCxnSpPr>
          <p:nvPr/>
        </p:nvCxnSpPr>
        <p:spPr>
          <a:xfrm>
            <a:off x="563597" y="5571376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Cluster 1 (Young professionals)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C5CD12-EA30-0849-A070-F1DB802BA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959937"/>
              </p:ext>
            </p:extLst>
          </p:nvPr>
        </p:nvGraphicFramePr>
        <p:xfrm>
          <a:off x="1475475" y="2991138"/>
          <a:ext cx="5087868" cy="3446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E890EE7-4657-6446-8214-D01FD80ECE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4899" y="2022939"/>
            <a:ext cx="3405616" cy="4495413"/>
          </a:xfrm>
          <a:prstGeom prst="rect">
            <a:avLst/>
          </a:prstGeom>
        </p:spPr>
      </p:pic>
      <p:pic>
        <p:nvPicPr>
          <p:cNvPr id="7" name="Graphic 6" descr="Envelope">
            <a:extLst>
              <a:ext uri="{FF2B5EF4-FFF2-40B4-BE49-F238E27FC236}">
                <a16:creationId xmlns:a16="http://schemas.microsoft.com/office/drawing/2014/main" id="{D2A729E4-3E3B-8E45-BA90-FD05E1DBBA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6680" y="4761044"/>
            <a:ext cx="661256" cy="661256"/>
          </a:xfrm>
          <a:prstGeom prst="rect">
            <a:avLst/>
          </a:prstGeom>
        </p:spPr>
      </p:pic>
      <p:pic>
        <p:nvPicPr>
          <p:cNvPr id="8" name="Graphic 7" descr="Target">
            <a:extLst>
              <a:ext uri="{FF2B5EF4-FFF2-40B4-BE49-F238E27FC236}">
                <a16:creationId xmlns:a16="http://schemas.microsoft.com/office/drawing/2014/main" id="{8C4DAAD3-94B1-0441-93DE-194FCA8F35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2265" y="3904989"/>
            <a:ext cx="706980" cy="706980"/>
          </a:xfrm>
          <a:prstGeom prst="rect">
            <a:avLst/>
          </a:prstGeom>
        </p:spPr>
      </p:pic>
      <p:pic>
        <p:nvPicPr>
          <p:cNvPr id="9" name="Graphic 8" descr="User">
            <a:extLst>
              <a:ext uri="{FF2B5EF4-FFF2-40B4-BE49-F238E27FC236}">
                <a16:creationId xmlns:a16="http://schemas.microsoft.com/office/drawing/2014/main" id="{79AAD9D1-6F84-7F45-A113-97091C4631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955" y="3106162"/>
            <a:ext cx="706981" cy="706981"/>
          </a:xfrm>
          <a:prstGeom prst="rect">
            <a:avLst/>
          </a:prstGeom>
        </p:spPr>
      </p:pic>
      <p:pic>
        <p:nvPicPr>
          <p:cNvPr id="10" name="Graphic 9" descr="Speech">
            <a:extLst>
              <a:ext uri="{FF2B5EF4-FFF2-40B4-BE49-F238E27FC236}">
                <a16:creationId xmlns:a16="http://schemas.microsoft.com/office/drawing/2014/main" id="{AA166795-C3F3-E74D-9646-668B9C5AE3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6681" y="5571376"/>
            <a:ext cx="661255" cy="6612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4398B33-07AF-F540-966C-66A51DAB58C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10460" y="139400"/>
            <a:ext cx="1141812" cy="15710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39FD74D-B3E6-B44B-837B-142F1168F737}"/>
              </a:ext>
            </a:extLst>
          </p:cNvPr>
          <p:cNvSpPr txBox="1"/>
          <p:nvPr/>
        </p:nvSpPr>
        <p:spPr>
          <a:xfrm>
            <a:off x="585048" y="1779765"/>
            <a:ext cx="6211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 10,628 cluster consists of mostly high school and above education with an average age of 32 and mostly have housing loans (55%) while some have personal loans (16%) who work as an admin or electrician</a:t>
            </a:r>
          </a:p>
        </p:txBody>
      </p:sp>
    </p:spTree>
    <p:extLst>
      <p:ext uri="{BB962C8B-B14F-4D97-AF65-F5344CB8AC3E}">
        <p14:creationId xmlns:p14="http://schemas.microsoft.com/office/powerpoint/2010/main" val="255445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A828F71-78DE-964A-B30A-9A31F0391991}"/>
              </a:ext>
            </a:extLst>
          </p:cNvPr>
          <p:cNvSpPr/>
          <p:nvPr/>
        </p:nvSpPr>
        <p:spPr>
          <a:xfrm>
            <a:off x="585048" y="571645"/>
            <a:ext cx="5973512" cy="12504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86939"/>
            <a:ext cx="7339403" cy="1456267"/>
          </a:xfrm>
        </p:spPr>
        <p:txBody>
          <a:bodyPr/>
          <a:lstStyle/>
          <a:p>
            <a:r>
              <a:rPr lang="en-US" b="1" i="1" dirty="0"/>
              <a:t>Cluster 2 (Working class traditionalists)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DB271CB-54D6-E84B-918D-AECDE2E8BF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253917"/>
              </p:ext>
            </p:extLst>
          </p:nvPr>
        </p:nvGraphicFramePr>
        <p:xfrm>
          <a:off x="1442149" y="3031958"/>
          <a:ext cx="5240942" cy="3512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A384E7E-E6C5-DD4D-8A29-F71A7C743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9235" y="286319"/>
            <a:ext cx="1905000" cy="154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06F55D-525B-204E-ACD7-EA35ED50C7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6856" y="1952176"/>
            <a:ext cx="3424046" cy="45410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4CB888-7657-7146-8791-7B5CFC20F387}"/>
              </a:ext>
            </a:extLst>
          </p:cNvPr>
          <p:cNvSpPr/>
          <p:nvPr/>
        </p:nvSpPr>
        <p:spPr>
          <a:xfrm>
            <a:off x="476330" y="3112630"/>
            <a:ext cx="930274" cy="335638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F5187D-04E4-CE46-ADEA-DA819E03E2CF}"/>
              </a:ext>
            </a:extLst>
          </p:cNvPr>
          <p:cNvCxnSpPr>
            <a:cxnSpLocks/>
          </p:cNvCxnSpPr>
          <p:nvPr/>
        </p:nvCxnSpPr>
        <p:spPr>
          <a:xfrm>
            <a:off x="478338" y="3964251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531E6B-F664-5D40-9235-28CF0F259857}"/>
              </a:ext>
            </a:extLst>
          </p:cNvPr>
          <p:cNvCxnSpPr>
            <a:cxnSpLocks/>
          </p:cNvCxnSpPr>
          <p:nvPr/>
        </p:nvCxnSpPr>
        <p:spPr>
          <a:xfrm>
            <a:off x="478338" y="4689085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94FF-182D-1D40-9093-2F06E25F9F38}"/>
              </a:ext>
            </a:extLst>
          </p:cNvPr>
          <p:cNvCxnSpPr>
            <a:cxnSpLocks/>
          </p:cNvCxnSpPr>
          <p:nvPr/>
        </p:nvCxnSpPr>
        <p:spPr>
          <a:xfrm>
            <a:off x="494726" y="5660594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Envelope">
            <a:extLst>
              <a:ext uri="{FF2B5EF4-FFF2-40B4-BE49-F238E27FC236}">
                <a16:creationId xmlns:a16="http://schemas.microsoft.com/office/drawing/2014/main" id="{FF3F4469-22A6-0D4C-B62E-C9820C7119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809" y="4850262"/>
            <a:ext cx="661256" cy="661256"/>
          </a:xfrm>
          <a:prstGeom prst="rect">
            <a:avLst/>
          </a:prstGeom>
        </p:spPr>
      </p:pic>
      <p:pic>
        <p:nvPicPr>
          <p:cNvPr id="13" name="Graphic 12" descr="Target">
            <a:extLst>
              <a:ext uri="{FF2B5EF4-FFF2-40B4-BE49-F238E27FC236}">
                <a16:creationId xmlns:a16="http://schemas.microsoft.com/office/drawing/2014/main" id="{E6F3947E-3EF3-954F-9BB9-A2E489931B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3394" y="3994207"/>
            <a:ext cx="706980" cy="706980"/>
          </a:xfrm>
          <a:prstGeom prst="rect">
            <a:avLst/>
          </a:prstGeom>
        </p:spPr>
      </p:pic>
      <p:pic>
        <p:nvPicPr>
          <p:cNvPr id="14" name="Graphic 13" descr="User">
            <a:extLst>
              <a:ext uri="{FF2B5EF4-FFF2-40B4-BE49-F238E27FC236}">
                <a16:creationId xmlns:a16="http://schemas.microsoft.com/office/drawing/2014/main" id="{3900D237-5CC8-574E-AD29-DCFFCA1CACE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084" y="3195380"/>
            <a:ext cx="706981" cy="706981"/>
          </a:xfrm>
          <a:prstGeom prst="rect">
            <a:avLst/>
          </a:prstGeom>
        </p:spPr>
      </p:pic>
      <p:pic>
        <p:nvPicPr>
          <p:cNvPr id="15" name="Graphic 14" descr="Speech">
            <a:extLst>
              <a:ext uri="{FF2B5EF4-FFF2-40B4-BE49-F238E27FC236}">
                <a16:creationId xmlns:a16="http://schemas.microsoft.com/office/drawing/2014/main" id="{C3C6D7BA-27E0-5E4D-BAA9-ED239BE269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7810" y="5660594"/>
            <a:ext cx="661255" cy="6612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B1B320-E66B-5045-931B-263556BCCE00}"/>
              </a:ext>
            </a:extLst>
          </p:cNvPr>
          <p:cNvSpPr txBox="1"/>
          <p:nvPr/>
        </p:nvSpPr>
        <p:spPr>
          <a:xfrm>
            <a:off x="585048" y="1924728"/>
            <a:ext cx="6211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 7,807 cluster consists of mostly basic education with an average age of 41 and mostly have housing loans (52%) while some have personal loans (15%) who work as a blue-collar worker</a:t>
            </a:r>
          </a:p>
        </p:txBody>
      </p:sp>
    </p:spTree>
    <p:extLst>
      <p:ext uri="{BB962C8B-B14F-4D97-AF65-F5344CB8AC3E}">
        <p14:creationId xmlns:p14="http://schemas.microsoft.com/office/powerpoint/2010/main" val="361576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99B119F-9E29-3B47-AF8E-D8A217DC0F94}"/>
              </a:ext>
            </a:extLst>
          </p:cNvPr>
          <p:cNvSpPr/>
          <p:nvPr/>
        </p:nvSpPr>
        <p:spPr>
          <a:xfrm>
            <a:off x="524108" y="935914"/>
            <a:ext cx="7078614" cy="77455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Cluster 3 (Affluent executives)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62D7E3-90B9-AE4E-BB77-E7988A2E5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235983"/>
              </p:ext>
            </p:extLst>
          </p:nvPr>
        </p:nvGraphicFramePr>
        <p:xfrm>
          <a:off x="1740252" y="2927780"/>
          <a:ext cx="5064927" cy="3356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C0B1E09-60FB-0845-A65B-E96996ED8C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4856" y="533400"/>
            <a:ext cx="1708716" cy="1358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1A6C0C-FECC-D549-9E47-E0CC0EE4E3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2721" y="2142067"/>
            <a:ext cx="3214505" cy="4292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356819-8544-684E-8F12-20BFAE32B017}"/>
              </a:ext>
            </a:extLst>
          </p:cNvPr>
          <p:cNvSpPr/>
          <p:nvPr/>
        </p:nvSpPr>
        <p:spPr>
          <a:xfrm>
            <a:off x="756038" y="2927780"/>
            <a:ext cx="930274" cy="335638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355A32-F6DF-6E41-B0A7-A4AC862F8F21}"/>
              </a:ext>
            </a:extLst>
          </p:cNvPr>
          <p:cNvCxnSpPr>
            <a:cxnSpLocks/>
          </p:cNvCxnSpPr>
          <p:nvPr/>
        </p:nvCxnSpPr>
        <p:spPr>
          <a:xfrm>
            <a:off x="758046" y="3779401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AA23F3-54A1-B142-B65F-621D6817BA58}"/>
              </a:ext>
            </a:extLst>
          </p:cNvPr>
          <p:cNvCxnSpPr>
            <a:cxnSpLocks/>
          </p:cNvCxnSpPr>
          <p:nvPr/>
        </p:nvCxnSpPr>
        <p:spPr>
          <a:xfrm>
            <a:off x="758046" y="4504235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7F2F71-9374-504A-9A7F-9B54B95D602C}"/>
              </a:ext>
            </a:extLst>
          </p:cNvPr>
          <p:cNvCxnSpPr>
            <a:cxnSpLocks/>
          </p:cNvCxnSpPr>
          <p:nvPr/>
        </p:nvCxnSpPr>
        <p:spPr>
          <a:xfrm>
            <a:off x="774434" y="5475744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Envelope">
            <a:extLst>
              <a:ext uri="{FF2B5EF4-FFF2-40B4-BE49-F238E27FC236}">
                <a16:creationId xmlns:a16="http://schemas.microsoft.com/office/drawing/2014/main" id="{1A8069A6-93A4-994F-846D-FA124F19B9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517" y="4665412"/>
            <a:ext cx="661256" cy="661256"/>
          </a:xfrm>
          <a:prstGeom prst="rect">
            <a:avLst/>
          </a:prstGeom>
        </p:spPr>
      </p:pic>
      <p:pic>
        <p:nvPicPr>
          <p:cNvPr id="12" name="Graphic 11" descr="Target">
            <a:extLst>
              <a:ext uri="{FF2B5EF4-FFF2-40B4-BE49-F238E27FC236}">
                <a16:creationId xmlns:a16="http://schemas.microsoft.com/office/drawing/2014/main" id="{B4371979-E29E-8C4D-B233-7CF8CE25DB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3102" y="3809357"/>
            <a:ext cx="706980" cy="706980"/>
          </a:xfrm>
          <a:prstGeom prst="rect">
            <a:avLst/>
          </a:prstGeom>
        </p:spPr>
      </p:pic>
      <p:pic>
        <p:nvPicPr>
          <p:cNvPr id="13" name="Graphic 12" descr="User">
            <a:extLst>
              <a:ext uri="{FF2B5EF4-FFF2-40B4-BE49-F238E27FC236}">
                <a16:creationId xmlns:a16="http://schemas.microsoft.com/office/drawing/2014/main" id="{6327A49C-181B-F844-8C62-2C24869092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1792" y="3010530"/>
            <a:ext cx="706981" cy="706981"/>
          </a:xfrm>
          <a:prstGeom prst="rect">
            <a:avLst/>
          </a:prstGeom>
        </p:spPr>
      </p:pic>
      <p:pic>
        <p:nvPicPr>
          <p:cNvPr id="14" name="Graphic 13" descr="Speech">
            <a:extLst>
              <a:ext uri="{FF2B5EF4-FFF2-40B4-BE49-F238E27FC236}">
                <a16:creationId xmlns:a16="http://schemas.microsoft.com/office/drawing/2014/main" id="{4912BB7A-7561-B140-9715-DE1956EB5CC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7518" y="5475744"/>
            <a:ext cx="661255" cy="6612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575EE3-1688-9847-B3E3-AE40D55B1F80}"/>
              </a:ext>
            </a:extLst>
          </p:cNvPr>
          <p:cNvSpPr txBox="1"/>
          <p:nvPr/>
        </p:nvSpPr>
        <p:spPr>
          <a:xfrm>
            <a:off x="685801" y="1801244"/>
            <a:ext cx="6506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 2,854 cluster consists of mostly university education with an average age of 42 and mostly have housing loans (52%) while some have personal loans (15%) who work as a manager</a:t>
            </a:r>
          </a:p>
        </p:txBody>
      </p:sp>
    </p:spTree>
    <p:extLst>
      <p:ext uri="{BB962C8B-B14F-4D97-AF65-F5344CB8AC3E}">
        <p14:creationId xmlns:p14="http://schemas.microsoft.com/office/powerpoint/2010/main" val="1037430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333BC4-DA10-4E45-AA97-4CFB4F34D73A}"/>
              </a:ext>
            </a:extLst>
          </p:cNvPr>
          <p:cNvSpPr/>
          <p:nvPr/>
        </p:nvSpPr>
        <p:spPr>
          <a:xfrm>
            <a:off x="8818311" y="609600"/>
            <a:ext cx="1340450" cy="10742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34CA1-2BC7-544B-A7AF-858B4BED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5893418" cy="1364093"/>
          </a:xfrm>
          <a:solidFill>
            <a:srgbClr val="00B050"/>
          </a:solidFill>
        </p:spPr>
        <p:txBody>
          <a:bodyPr/>
          <a:lstStyle/>
          <a:p>
            <a:r>
              <a:rPr lang="en-US" b="1" i="1" dirty="0"/>
              <a:t>Cluster 4 (Financially unengaged outliers)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484D74-FB16-B249-898A-0DA8156F05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597559"/>
              </p:ext>
            </p:extLst>
          </p:nvPr>
        </p:nvGraphicFramePr>
        <p:xfrm>
          <a:off x="1626885" y="3062821"/>
          <a:ext cx="5139795" cy="347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Users">
            <a:extLst>
              <a:ext uri="{FF2B5EF4-FFF2-40B4-BE49-F238E27FC236}">
                <a16:creationId xmlns:a16="http://schemas.microsoft.com/office/drawing/2014/main" id="{E0C86622-A828-5243-80CA-C744E3C855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18311" y="455811"/>
            <a:ext cx="1340450" cy="1340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38F755-4D0F-DF43-B108-ABC8BCB4AB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1388" y="2073258"/>
            <a:ext cx="3456133" cy="45309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3F46BD-68A7-0647-BC07-554CE4B71B5B}"/>
              </a:ext>
            </a:extLst>
          </p:cNvPr>
          <p:cNvSpPr/>
          <p:nvPr/>
        </p:nvSpPr>
        <p:spPr>
          <a:xfrm>
            <a:off x="712999" y="3123781"/>
            <a:ext cx="930274" cy="335638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943F61-6BC1-1D4D-A239-5901AE0DD663}"/>
              </a:ext>
            </a:extLst>
          </p:cNvPr>
          <p:cNvCxnSpPr>
            <a:cxnSpLocks/>
          </p:cNvCxnSpPr>
          <p:nvPr/>
        </p:nvCxnSpPr>
        <p:spPr>
          <a:xfrm>
            <a:off x="715007" y="3975402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5CD417-7902-554B-85B7-68B42DDC67EB}"/>
              </a:ext>
            </a:extLst>
          </p:cNvPr>
          <p:cNvCxnSpPr>
            <a:cxnSpLocks/>
          </p:cNvCxnSpPr>
          <p:nvPr/>
        </p:nvCxnSpPr>
        <p:spPr>
          <a:xfrm>
            <a:off x="715007" y="4700236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D8866D-2498-EB4F-967A-80E26AD92225}"/>
              </a:ext>
            </a:extLst>
          </p:cNvPr>
          <p:cNvCxnSpPr>
            <a:cxnSpLocks/>
          </p:cNvCxnSpPr>
          <p:nvPr/>
        </p:nvCxnSpPr>
        <p:spPr>
          <a:xfrm>
            <a:off x="731395" y="5671745"/>
            <a:ext cx="911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Envelope">
            <a:extLst>
              <a:ext uri="{FF2B5EF4-FFF2-40B4-BE49-F238E27FC236}">
                <a16:creationId xmlns:a16="http://schemas.microsoft.com/office/drawing/2014/main" id="{6E711B3F-E7AA-BF42-B72B-9EC2CFBFD7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4478" y="4861413"/>
            <a:ext cx="661256" cy="661256"/>
          </a:xfrm>
          <a:prstGeom prst="rect">
            <a:avLst/>
          </a:prstGeom>
        </p:spPr>
      </p:pic>
      <p:pic>
        <p:nvPicPr>
          <p:cNvPr id="12" name="Graphic 11" descr="Target">
            <a:extLst>
              <a:ext uri="{FF2B5EF4-FFF2-40B4-BE49-F238E27FC236}">
                <a16:creationId xmlns:a16="http://schemas.microsoft.com/office/drawing/2014/main" id="{89F40BFB-2F36-E94C-8E77-7FC3FEF2D8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0063" y="4005358"/>
            <a:ext cx="706980" cy="706980"/>
          </a:xfrm>
          <a:prstGeom prst="rect">
            <a:avLst/>
          </a:prstGeom>
        </p:spPr>
      </p:pic>
      <p:pic>
        <p:nvPicPr>
          <p:cNvPr id="13" name="Graphic 12" descr="User">
            <a:extLst>
              <a:ext uri="{FF2B5EF4-FFF2-40B4-BE49-F238E27FC236}">
                <a16:creationId xmlns:a16="http://schemas.microsoft.com/office/drawing/2014/main" id="{C40AD702-E302-FF4A-85BC-CDC8F172F4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8753" y="3206531"/>
            <a:ext cx="706981" cy="706981"/>
          </a:xfrm>
          <a:prstGeom prst="rect">
            <a:avLst/>
          </a:prstGeom>
        </p:spPr>
      </p:pic>
      <p:pic>
        <p:nvPicPr>
          <p:cNvPr id="14" name="Graphic 13" descr="Speech">
            <a:extLst>
              <a:ext uri="{FF2B5EF4-FFF2-40B4-BE49-F238E27FC236}">
                <a16:creationId xmlns:a16="http://schemas.microsoft.com/office/drawing/2014/main" id="{9BA092DB-39B5-C048-B400-A5F12F0A350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4479" y="5671745"/>
            <a:ext cx="661255" cy="6612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D3003D-E014-8540-AABF-2D531270B9AD}"/>
              </a:ext>
            </a:extLst>
          </p:cNvPr>
          <p:cNvSpPr txBox="1"/>
          <p:nvPr/>
        </p:nvSpPr>
        <p:spPr>
          <a:xfrm>
            <a:off x="685802" y="2195091"/>
            <a:ext cx="6211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 990 cluster consists of varying education and occupation with an average age of 41 and have no personal or home loans</a:t>
            </a:r>
          </a:p>
        </p:txBody>
      </p:sp>
    </p:spTree>
    <p:extLst>
      <p:ext uri="{BB962C8B-B14F-4D97-AF65-F5344CB8AC3E}">
        <p14:creationId xmlns:p14="http://schemas.microsoft.com/office/powerpoint/2010/main" val="25944941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{396E8ADF-7A62-F342-87B4-F23DAF628FE6}tf10001058</Template>
  <TotalTime>19089</TotalTime>
  <Words>827</Words>
  <Application>Microsoft Macintosh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Celestial</vt:lpstr>
      <vt:lpstr>Customer segmentation &amp; personas</vt:lpstr>
      <vt:lpstr>Project objective</vt:lpstr>
      <vt:lpstr>Methodology</vt:lpstr>
      <vt:lpstr>Methodology</vt:lpstr>
      <vt:lpstr>K number results COMPARISON Test</vt:lpstr>
      <vt:lpstr>analysis</vt:lpstr>
      <vt:lpstr>Results overview</vt:lpstr>
      <vt:lpstr>Cluster 0 (mid-life professionals)</vt:lpstr>
      <vt:lpstr>Cluster 1 (Young professionals)</vt:lpstr>
      <vt:lpstr>Cluster 2 (Working class traditionalists)</vt:lpstr>
      <vt:lpstr>Cluster 3 (Affluent executives)</vt:lpstr>
      <vt:lpstr>Cluster 4 (Financially unengaged outliers)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7</cp:revision>
  <dcterms:created xsi:type="dcterms:W3CDTF">2025-07-30T08:51:08Z</dcterms:created>
  <dcterms:modified xsi:type="dcterms:W3CDTF">2025-09-01T08:22:02Z</dcterms:modified>
</cp:coreProperties>
</file>